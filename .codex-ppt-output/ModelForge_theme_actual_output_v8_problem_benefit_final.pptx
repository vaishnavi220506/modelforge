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ModelForge_Project.md, ModelForge\README.md. Visual reference: user-provided geometric navy and cyan theme image. Cover copy intentionally uses plain language for a viva-style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ModelForge_Project.md sections 2-4, 6, 20. The wording is a plain-language restatement of the project motivation and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ModelForge\review_2_core_implementation\models\iris_demo.mforge; ModelForge\review_2_core_implementation\README.md; ModelForge_Project.md sections 5 and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ModelForge\docs\architecture.md; ModelForge\review_2_core_implementation\src\README.md; ModelForge_Project.md sections 6-12 and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ModelForge\review_2_core_implementation\src\README.md; ModelForge\docs\architecture.md; ModelForge_Project.md sections 7 and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ModelForge\review_2_core_implementation\IMPLEMENTATION_PROGRESS.md; ModelForge\review_3_final_integration\FINAL_STATUS.md; ModelForge_Project.md sections 8 and 20. The demo-specific numbers are 7 to 5, 1 dead instruction removed, and 1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local run of C:\Users\Sri vaishnavi\Compiler\build\generated\build\Release\generated_model.exe on 17 Sep 2026; actual stdout: Prediction: 2, Confidence: 0.452578. Test result: ctest reported 1/1 passed. Screenshot asset: .codex-ppt-build\demo-output.png.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ModelForge\review_3_final_integration\FINAL_STATUS.md; ModelForge_Project.md sections 20, 23, 26, and 27. Final slide uses the project's own viva explanation in more conversational language. Visual reference: user-provided geometric navy and cyan theme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heme-frame">
            <a:extLst>
              <a:ext uri="{FF2B5EF4-FFF2-40B4-BE49-F238E27FC236}">
                <a16:creationId xmlns:a16="http://schemas.microsoft.com/office/drawing/2014/main" id="{E14ADC0D-CB1F-4B8E-A3DA-A174E5BBDAAF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11849100" cy="6515100"/>
          </a:xfrm>
          <a:prstGeom prst="rect">
            <a:avLst/>
          </a:prstGeom>
          <a:noFill/>
          <a:ln w="9525">
            <a:solidFill>
              <a:srgbClr val="B9BEC6"/>
            </a:solidFill>
            <a:prstDash val="solid"/>
          </a:ln>
        </p:spPr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335FC6DA-B17A-4E1D-9EE8-22AEC20B63E9}"/>
              </a:ext>
            </a:extLst>
          </p:cNvPr>
          <p:cNvSpPr>
            <a:spLocks noGrp="1"/>
          </p:cNvSpPr>
          <p:nvPr/>
        </p:nvSpPr>
        <p:spPr>
          <a:xfrm>
            <a:off x="190500" y="238125"/>
            <a:ext cx="438150" cy="43815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A718FC6-B83B-43C5-8972-154D8834816D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438150" cy="43815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7CD65E2-D804-4964-8D29-AE38DCD9BAF2}"/>
              </a:ext>
            </a:extLst>
          </p:cNvPr>
          <p:cNvSpPr>
            <a:spLocks noGrp="1"/>
          </p:cNvSpPr>
          <p:nvPr/>
        </p:nvSpPr>
        <p:spPr>
          <a:xfrm rot="10800000">
            <a:off x="190500" y="628650"/>
            <a:ext cx="438150" cy="43815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0EB8B93-5C9E-4E7E-93E1-7F4BFD34CDA7}"/>
              </a:ext>
            </a:extLst>
          </p:cNvPr>
          <p:cNvSpPr>
            <a:spLocks noGrp="1"/>
          </p:cNvSpPr>
          <p:nvPr/>
        </p:nvSpPr>
        <p:spPr>
          <a:xfrm rot="10800000">
            <a:off x="590550" y="628650"/>
            <a:ext cx="438150" cy="43815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DE4EA7F-2EF3-4127-A207-27E58BABD953}"/>
              </a:ext>
            </a:extLst>
          </p:cNvPr>
          <p:cNvSpPr>
            <a:spLocks noGrp="1"/>
          </p:cNvSpPr>
          <p:nvPr/>
        </p:nvSpPr>
        <p:spPr>
          <a:xfrm>
            <a:off x="190500" y="1019175"/>
            <a:ext cx="438150" cy="43815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6E773A7-4E05-4268-8E80-F8DFCC73E22B}"/>
              </a:ext>
            </a:extLst>
          </p:cNvPr>
          <p:cNvSpPr>
            <a:spLocks noGrp="1"/>
          </p:cNvSpPr>
          <p:nvPr/>
        </p:nvSpPr>
        <p:spPr>
          <a:xfrm rot="10800000">
            <a:off x="11163300" y="238125"/>
            <a:ext cx="438150" cy="43815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B035994-D18F-4CF6-A64E-CD23EE4693EF}"/>
              </a:ext>
            </a:extLst>
          </p:cNvPr>
          <p:cNvSpPr>
            <a:spLocks noGrp="1"/>
          </p:cNvSpPr>
          <p:nvPr/>
        </p:nvSpPr>
        <p:spPr>
          <a:xfrm rot="10800000">
            <a:off x="11563350" y="238125"/>
            <a:ext cx="438150" cy="43815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F1CFAC2-1F97-466C-9F29-77988FD95760}"/>
              </a:ext>
            </a:extLst>
          </p:cNvPr>
          <p:cNvSpPr>
            <a:spLocks noGrp="1"/>
          </p:cNvSpPr>
          <p:nvPr/>
        </p:nvSpPr>
        <p:spPr>
          <a:xfrm>
            <a:off x="11163300" y="628650"/>
            <a:ext cx="438150" cy="43815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70EE494-BA2A-4DAB-85FD-1B3CB1D4D93C}"/>
              </a:ext>
            </a:extLst>
          </p:cNvPr>
          <p:cNvSpPr>
            <a:spLocks noGrp="1"/>
          </p:cNvSpPr>
          <p:nvPr/>
        </p:nvSpPr>
        <p:spPr>
          <a:xfrm>
            <a:off x="11563350" y="628650"/>
            <a:ext cx="438150" cy="43815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15BB16A-4C9E-444D-A907-50F21B0E69F0}"/>
              </a:ext>
            </a:extLst>
          </p:cNvPr>
          <p:cNvSpPr>
            <a:spLocks noGrp="1"/>
          </p:cNvSpPr>
          <p:nvPr/>
        </p:nvSpPr>
        <p:spPr>
          <a:xfrm>
            <a:off x="11163300" y="5838825"/>
            <a:ext cx="438150" cy="43815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AB48226-67B2-4844-8F43-B02B69D1B25C}"/>
              </a:ext>
            </a:extLst>
          </p:cNvPr>
          <p:cNvSpPr>
            <a:spLocks noGrp="1"/>
          </p:cNvSpPr>
          <p:nvPr/>
        </p:nvSpPr>
        <p:spPr>
          <a:xfrm>
            <a:off x="11563350" y="5838825"/>
            <a:ext cx="438150" cy="43815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8D9C9E3-35B2-4D58-85F9-5411B38C3D42}"/>
              </a:ext>
            </a:extLst>
          </p:cNvPr>
          <p:cNvSpPr>
            <a:spLocks noGrp="1"/>
          </p:cNvSpPr>
          <p:nvPr/>
        </p:nvSpPr>
        <p:spPr>
          <a:xfrm rot="10800000">
            <a:off x="11163300" y="6229350"/>
            <a:ext cx="438150" cy="43815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CFADB37-9E69-414A-A0B4-DA6F4A35D142}"/>
              </a:ext>
            </a:extLst>
          </p:cNvPr>
          <p:cNvSpPr>
            <a:spLocks noGrp="1"/>
          </p:cNvSpPr>
          <p:nvPr/>
        </p:nvSpPr>
        <p:spPr>
          <a:xfrm rot="10800000">
            <a:off x="11563350" y="6229350"/>
            <a:ext cx="438150" cy="43815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364AEEB-AEF2-486A-A58D-7A9E9BCA777E}"/>
              </a:ext>
            </a:extLst>
          </p:cNvPr>
          <p:cNvSpPr>
            <a:spLocks noGrp="1"/>
          </p:cNvSpPr>
          <p:nvPr/>
        </p:nvSpPr>
        <p:spPr>
          <a:xfrm rot="10800000">
            <a:off x="190500" y="6229350"/>
            <a:ext cx="438150" cy="43815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7273B94-E186-4246-AEAA-7E3E2272A304}"/>
              </a:ext>
            </a:extLst>
          </p:cNvPr>
          <p:cNvSpPr>
            <a:spLocks noGrp="1"/>
          </p:cNvSpPr>
          <p:nvPr/>
        </p:nvSpPr>
        <p:spPr>
          <a:xfrm rot="10800000">
            <a:off x="590550" y="6229350"/>
            <a:ext cx="438150" cy="43815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864D767-831B-4855-8335-C98BAF2EE1B8}"/>
              </a:ext>
            </a:extLst>
          </p:cNvPr>
          <p:cNvSpPr>
            <a:spLocks noGrp="1"/>
          </p:cNvSpPr>
          <p:nvPr/>
        </p:nvSpPr>
        <p:spPr>
          <a:xfrm>
            <a:off x="190500" y="5886450"/>
            <a:ext cx="438150" cy="43815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8" name="cover-title">
            <a:extLst>
              <a:ext uri="{FF2B5EF4-FFF2-40B4-BE49-F238E27FC236}">
                <a16:creationId xmlns:a16="http://schemas.microsoft.com/office/drawing/2014/main" id="{47209D6E-D92C-41D1-9D42-978A7EAA75D6}"/>
              </a:ext>
            </a:extLst>
          </p:cNvPr>
          <p:cNvSpPr>
            <a:spLocks noGrp="1"/>
          </p:cNvSpPr>
          <p:nvPr/>
        </p:nvSpPr>
        <p:spPr>
          <a:xfrm>
            <a:off x="1619250" y="1524000"/>
            <a:ext cx="895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4050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MODELFORGE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FDE008-8F5B-40A0-9918-D8D549839821}"/>
              </a:ext>
            </a:extLst>
          </p:cNvPr>
          <p:cNvSpPr>
            <a:spLocks noGrp="1"/>
          </p:cNvSpPr>
          <p:nvPr/>
        </p:nvSpPr>
        <p:spPr>
          <a:xfrm>
            <a:off x="4648200" y="2419350"/>
            <a:ext cx="2895600" cy="5715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30AFC4-EE54-4A58-8D22-BC517BF78FA0}"/>
              </a:ext>
            </a:extLst>
          </p:cNvPr>
          <p:cNvSpPr>
            <a:spLocks noGrp="1"/>
          </p:cNvSpPr>
          <p:nvPr/>
        </p:nvSpPr>
        <p:spPr>
          <a:xfrm>
            <a:off x="1619250" y="26860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2025" b="0" i="0">
                <a:solidFill>
                  <a:srgbClr val="0B4B8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B4B8F"/>
                </a:solidFill>
                <a:latin typeface="Arial"/>
                <a:ea typeface="Arial"/>
                <a:cs typeface="Arial"/>
              </a:rPr>
              <a:t>From a model file to standalone C++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FBACC7-31B4-42CC-841F-24764087DED1}"/>
              </a:ext>
            </a:extLst>
          </p:cNvPr>
          <p:cNvSpPr>
            <a:spLocks noGrp="1"/>
          </p:cNvSpPr>
          <p:nvPr/>
        </p:nvSpPr>
        <p:spPr>
          <a:xfrm>
            <a:off x="2190750" y="3238500"/>
            <a:ext cx="781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1350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09CD63E-209B-4F23-928C-6EAD9AB4E890}"/>
              </a:ext>
            </a:extLst>
          </p:cNvPr>
          <p:cNvSpPr>
            <a:spLocks noGrp="1"/>
          </p:cNvSpPr>
          <p:nvPr/>
        </p:nvSpPr>
        <p:spPr>
          <a:xfrm>
            <a:off x="4362450" y="3573992"/>
            <a:ext cx="3467100" cy="266700"/>
          </a:xfrm>
          <a:prstGeom prst="roundRect">
            <a:avLst>
              <a:gd name="adj" fmla="val 50000"/>
            </a:avLst>
          </a:prstGeom>
          <a:solidFill>
            <a:srgbClr val="00C7C7"/>
          </a:solidFill>
          <a:ln w="9525">
            <a:solidFill>
              <a:srgbClr val="00C7C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2A6B"/>
                </a:solidFill>
                <a:latin typeface="Arial"/>
                <a:ea typeface="Arial"/>
                <a:cs typeface="Arial"/>
              </a:rPr>
              <a:t>C++17  |  IR  |  CODE GENERATION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A63B3FE5-5823-461A-8CE9-7C5413CA8933}"/>
              </a:ext>
            </a:extLst>
          </p:cNvPr>
          <p:cNvSpPr>
            <a:spLocks noGrp="1"/>
          </p:cNvSpPr>
          <p:nvPr/>
        </p:nvSpPr>
        <p:spPr>
          <a:xfrm>
            <a:off x="1371600" y="5029200"/>
            <a:ext cx="1695450" cy="0"/>
          </a:xfrm>
          <a:prstGeom prst="line">
            <a:avLst/>
          </a:prstGeom>
          <a:noFill/>
          <a:ln w="28575">
            <a:solidFill>
              <a:srgbClr val="C9CED6"/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CAF49640-F964-43F9-A427-FFD947F2AD23}"/>
              </a:ext>
            </a:extLst>
          </p:cNvPr>
          <p:cNvSpPr>
            <a:spLocks noGrp="1"/>
          </p:cNvSpPr>
          <p:nvPr/>
        </p:nvSpPr>
        <p:spPr>
          <a:xfrm>
            <a:off x="3600450" y="5029200"/>
            <a:ext cx="1695450" cy="0"/>
          </a:xfrm>
          <a:prstGeom prst="line">
            <a:avLst/>
          </a:prstGeom>
          <a:noFill/>
          <a:ln w="28575">
            <a:solidFill>
              <a:srgbClr val="C9CED6"/>
            </a:solidFill>
            <a:prstDash val="solid"/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09E5BBEE-57E5-4531-A52D-A07192F248EE}"/>
              </a:ext>
            </a:extLst>
          </p:cNvPr>
          <p:cNvSpPr>
            <a:spLocks noGrp="1"/>
          </p:cNvSpPr>
          <p:nvPr/>
        </p:nvSpPr>
        <p:spPr>
          <a:xfrm>
            <a:off x="5829300" y="5029200"/>
            <a:ext cx="1695450" cy="0"/>
          </a:xfrm>
          <a:prstGeom prst="line">
            <a:avLst/>
          </a:prstGeom>
          <a:noFill/>
          <a:ln w="28575">
            <a:solidFill>
              <a:srgbClr val="C9CED6"/>
            </a:solidFill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B4379F8-100F-4B02-B040-3AD981E0BA5B}"/>
              </a:ext>
            </a:extLst>
          </p:cNvPr>
          <p:cNvSpPr>
            <a:spLocks noGrp="1"/>
          </p:cNvSpPr>
          <p:nvPr/>
        </p:nvSpPr>
        <p:spPr>
          <a:xfrm>
            <a:off x="8058150" y="5029200"/>
            <a:ext cx="1695450" cy="0"/>
          </a:xfrm>
          <a:prstGeom prst="line">
            <a:avLst/>
          </a:prstGeom>
          <a:noFill/>
          <a:ln w="28575">
            <a:solidFill>
              <a:srgbClr val="C9CED6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67C360E-F3A5-4534-A7E6-58C90C9E6119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552450" cy="552450"/>
          </a:xfrm>
          <a:prstGeom prst="ellips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25D035-E73C-4DC7-87EA-22DA38635778}"/>
              </a:ext>
            </a:extLst>
          </p:cNvPr>
          <p:cNvSpPr>
            <a:spLocks noGrp="1"/>
          </p:cNvSpPr>
          <p:nvPr/>
        </p:nvSpPr>
        <p:spPr>
          <a:xfrm>
            <a:off x="838200" y="54864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180AEB-567D-4C12-A7C8-DBF328BB44E6}"/>
              </a:ext>
            </a:extLst>
          </p:cNvPr>
          <p:cNvSpPr>
            <a:spLocks noGrp="1"/>
          </p:cNvSpPr>
          <p:nvPr/>
        </p:nvSpPr>
        <p:spPr>
          <a:xfrm>
            <a:off x="3333750" y="4762500"/>
            <a:ext cx="552450" cy="552450"/>
          </a:xfrm>
          <a:prstGeom prst="ellips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0C6033-D3C2-4662-8FBE-E1BBF32BA17D}"/>
              </a:ext>
            </a:extLst>
          </p:cNvPr>
          <p:cNvSpPr>
            <a:spLocks noGrp="1"/>
          </p:cNvSpPr>
          <p:nvPr/>
        </p:nvSpPr>
        <p:spPr>
          <a:xfrm>
            <a:off x="3067050" y="54864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CF33F1-D23B-4156-9164-F0CF751655A5}"/>
              </a:ext>
            </a:extLst>
          </p:cNvPr>
          <p:cNvSpPr>
            <a:spLocks noGrp="1"/>
          </p:cNvSpPr>
          <p:nvPr/>
        </p:nvSpPr>
        <p:spPr>
          <a:xfrm>
            <a:off x="5562600" y="4762500"/>
            <a:ext cx="552450" cy="552450"/>
          </a:xfrm>
          <a:prstGeom prst="ellipse">
            <a:avLst/>
          </a:prstGeom>
          <a:solidFill>
            <a:srgbClr val="0B4B8F"/>
          </a:solidFill>
          <a:ln w="0">
            <a:solidFill>
              <a:srgbClr val="0B4B8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EE7F60-4FF2-42B6-9D9A-1D39F4BC0743}"/>
              </a:ext>
            </a:extLst>
          </p:cNvPr>
          <p:cNvSpPr>
            <a:spLocks noGrp="1"/>
          </p:cNvSpPr>
          <p:nvPr/>
        </p:nvSpPr>
        <p:spPr>
          <a:xfrm>
            <a:off x="5295900" y="54864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40E68C5-4CF8-4F2C-9420-39F96269EB6C}"/>
              </a:ext>
            </a:extLst>
          </p:cNvPr>
          <p:cNvSpPr>
            <a:spLocks noGrp="1"/>
          </p:cNvSpPr>
          <p:nvPr/>
        </p:nvSpPr>
        <p:spPr>
          <a:xfrm>
            <a:off x="7791450" y="4762500"/>
            <a:ext cx="552450" cy="552450"/>
          </a:xfrm>
          <a:prstGeom prst="ellips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ABD7A9-CFD7-4DF5-A9B6-5BFC3BC6E482}"/>
              </a:ext>
            </a:extLst>
          </p:cNvPr>
          <p:cNvSpPr>
            <a:spLocks noGrp="1"/>
          </p:cNvSpPr>
          <p:nvPr/>
        </p:nvSpPr>
        <p:spPr>
          <a:xfrm>
            <a:off x="7524750" y="54864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87E37C0-AF2C-4F84-8487-FDE3B6C9A485}"/>
              </a:ext>
            </a:extLst>
          </p:cNvPr>
          <p:cNvSpPr>
            <a:spLocks noGrp="1"/>
          </p:cNvSpPr>
          <p:nvPr/>
        </p:nvSpPr>
        <p:spPr>
          <a:xfrm>
            <a:off x="10020300" y="4762500"/>
            <a:ext cx="552450" cy="552450"/>
          </a:xfrm>
          <a:prstGeom prst="ellips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BDDDB4-2AF1-4EB6-BEE3-DB63F3D64CDC}"/>
              </a:ext>
            </a:extLst>
          </p:cNvPr>
          <p:cNvSpPr>
            <a:spLocks noGrp="1"/>
          </p:cNvSpPr>
          <p:nvPr/>
        </p:nvSpPr>
        <p:spPr>
          <a:xfrm>
            <a:off x="9753600" y="54864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C++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5019C2-CC11-48EE-B2F5-C6EA4AAA723E}"/>
              </a:ext>
            </a:extLst>
          </p:cNvPr>
          <p:cNvSpPr>
            <a:spLocks noGrp="1"/>
          </p:cNvSpPr>
          <p:nvPr/>
        </p:nvSpPr>
        <p:spPr>
          <a:xfrm>
            <a:off x="2571750" y="590550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The idea is simple: make every compiler step visible.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6989C8-227A-4A4B-99BF-BAE35B67E55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823BB9-0EE9-4804-AA38-960E723A70FA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C438DA7-9003-45FC-AAFC-E18433D98F8F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4762500" cy="552450"/>
          </a:xfrm>
          <a:prstGeom prst="roundRect">
            <a:avLst>
              <a:gd name="adj" fmla="val 27586"/>
            </a:avLst>
          </a:prstGeom>
          <a:solidFill>
            <a:srgbClr val="F3F7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E3D3C5-86C2-42EA-A800-8F9079EAE879}"/>
              </a:ext>
            </a:extLst>
          </p:cNvPr>
          <p:cNvSpPr>
            <a:spLocks noGrp="1"/>
          </p:cNvSpPr>
          <p:nvPr/>
        </p:nvSpPr>
        <p:spPr>
          <a:xfrm>
            <a:off x="1257300" y="42100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2A6B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1D343D-8C61-42E4-BE1B-BED3EC0D7485}"/>
              </a:ext>
            </a:extLst>
          </p:cNvPr>
          <p:cNvSpPr>
            <a:spLocks noGrp="1"/>
          </p:cNvSpPr>
          <p:nvPr/>
        </p:nvSpPr>
        <p:spPr>
          <a:xfrm>
            <a:off x="1257300" y="4400550"/>
            <a:ext cx="430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8189"/>
                </a:solidFill>
                <a:latin typeface="Arial"/>
                <a:ea typeface="Arial"/>
                <a:cs typeface="Arial"/>
              </a:rPr>
              <a:t>A model can run, but the graph-to-code path stays hidden.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4C53B7B-4912-4754-BCE2-EE5664C5D35C}"/>
              </a:ext>
            </a:extLst>
          </p:cNvPr>
          <p:cNvSpPr>
            <a:spLocks noGrp="1"/>
          </p:cNvSpPr>
          <p:nvPr/>
        </p:nvSpPr>
        <p:spPr>
          <a:xfrm>
            <a:off x="6362700" y="4114800"/>
            <a:ext cx="4762500" cy="552450"/>
          </a:xfrm>
          <a:prstGeom prst="roundRect">
            <a:avLst>
              <a:gd name="adj" fmla="val 27586"/>
            </a:avLst>
          </a:prstGeom>
          <a:solidFill>
            <a:srgbClr val="E8FBFB"/>
          </a:solidFill>
          <a:ln w="9525">
            <a:solidFill>
              <a:srgbClr val="00C7C7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24B3D4-A566-45A7-BC90-7175667B3713}"/>
              </a:ext>
            </a:extLst>
          </p:cNvPr>
          <p:cNvSpPr>
            <a:spLocks noGrp="1"/>
          </p:cNvSpPr>
          <p:nvPr/>
        </p:nvSpPr>
        <p:spPr>
          <a:xfrm>
            <a:off x="6553200" y="42100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C7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C7C7"/>
                </a:solidFill>
                <a:latin typeface="Arial"/>
                <a:ea typeface="Arial"/>
                <a:cs typeface="Arial"/>
              </a:rPr>
              <a:t>WHY FIX IT?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BD8F0E-E361-4EF4-9573-839B276B1133}"/>
              </a:ext>
            </a:extLst>
          </p:cNvPr>
          <p:cNvSpPr>
            <a:spLocks noGrp="1"/>
          </p:cNvSpPr>
          <p:nvPr/>
        </p:nvSpPr>
        <p:spPr>
          <a:xfrm>
            <a:off x="6553200" y="4400550"/>
            <a:ext cx="430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8189"/>
                </a:solidFill>
                <a:latin typeface="Arial"/>
                <a:ea typeface="Arial"/>
                <a:cs typeface="Arial"/>
              </a:rPr>
              <a:t>Fixing that gives us code we can verify, explain, and optimize.</a:t>
            </a:r>
          </a:p>
        </p:txBody>
      </p:sp>
    </p:spTree>
    <p:extLst>
      <p:ext uri="{BB962C8B-B14F-4D97-AF65-F5344CB8AC3E}">
        <p14:creationId xmlns:p14="http://schemas.microsoft.com/office/powerpoint/2010/main" val="42863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heme-frame">
            <a:extLst>
              <a:ext uri="{FF2B5EF4-FFF2-40B4-BE49-F238E27FC236}">
                <a16:creationId xmlns:a16="http://schemas.microsoft.com/office/drawing/2014/main" id="{105DB434-82C9-477F-B407-BE10A23A8A93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11849100" cy="6515100"/>
          </a:xfrm>
          <a:prstGeom prst="rect">
            <a:avLst/>
          </a:prstGeom>
          <a:noFill/>
          <a:ln w="9525">
            <a:solidFill>
              <a:srgbClr val="B9BEC6"/>
            </a:solidFill>
            <a:prstDash val="solid"/>
          </a:ln>
        </p:spPr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0C603DA5-5A9F-4DCE-8B15-F0879C9AE39C}"/>
              </a:ext>
            </a:extLst>
          </p:cNvPr>
          <p:cNvSpPr>
            <a:spLocks noGrp="1"/>
          </p:cNvSpPr>
          <p:nvPr/>
        </p:nvSpPr>
        <p:spPr>
          <a:xfrm>
            <a:off x="1905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7FE554B-B60B-47ED-ACD8-F2BC3DA7D85C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261E394-FEA2-4815-89D9-F67D3B2CA132}"/>
              </a:ext>
            </a:extLst>
          </p:cNvPr>
          <p:cNvSpPr>
            <a:spLocks noGrp="1"/>
          </p:cNvSpPr>
          <p:nvPr/>
        </p:nvSpPr>
        <p:spPr>
          <a:xfrm rot="10800000">
            <a:off x="1905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69259C2-1755-46C1-B12C-220D4A840331}"/>
              </a:ext>
            </a:extLst>
          </p:cNvPr>
          <p:cNvSpPr>
            <a:spLocks noGrp="1"/>
          </p:cNvSpPr>
          <p:nvPr/>
        </p:nvSpPr>
        <p:spPr>
          <a:xfrm rot="10800000">
            <a:off x="4953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1A04233-B81B-4B8F-824E-E96628019A44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B3E28401-5E05-42D2-A073-63FDCEC5CA76}"/>
              </a:ext>
            </a:extLst>
          </p:cNvPr>
          <p:cNvSpPr>
            <a:spLocks noGrp="1"/>
          </p:cNvSpPr>
          <p:nvPr/>
        </p:nvSpPr>
        <p:spPr>
          <a:xfrm rot="10800000">
            <a:off x="113538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13D1BD3-D56C-4DD9-92E8-94A44BCCD3A1}"/>
              </a:ext>
            </a:extLst>
          </p:cNvPr>
          <p:cNvSpPr>
            <a:spLocks noGrp="1"/>
          </p:cNvSpPr>
          <p:nvPr/>
        </p:nvSpPr>
        <p:spPr>
          <a:xfrm rot="10800000">
            <a:off x="116586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115B425-93A2-4807-AAA7-DD407316869D}"/>
              </a:ext>
            </a:extLst>
          </p:cNvPr>
          <p:cNvSpPr>
            <a:spLocks noGrp="1"/>
          </p:cNvSpPr>
          <p:nvPr/>
        </p:nvSpPr>
        <p:spPr>
          <a:xfrm>
            <a:off x="113538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00E4534-28F2-4752-8FC0-48B4142F0CD7}"/>
              </a:ext>
            </a:extLst>
          </p:cNvPr>
          <p:cNvSpPr>
            <a:spLocks noGrp="1"/>
          </p:cNvSpPr>
          <p:nvPr/>
        </p:nvSpPr>
        <p:spPr>
          <a:xfrm>
            <a:off x="116586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5AFB2FB-0484-46A9-82BF-53D2639E6ECD}"/>
              </a:ext>
            </a:extLst>
          </p:cNvPr>
          <p:cNvSpPr>
            <a:spLocks noGrp="1"/>
          </p:cNvSpPr>
          <p:nvPr/>
        </p:nvSpPr>
        <p:spPr>
          <a:xfrm>
            <a:off x="11353800" y="60293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19967B6-B24B-4807-B363-3BAEFF20E0D5}"/>
              </a:ext>
            </a:extLst>
          </p:cNvPr>
          <p:cNvSpPr>
            <a:spLocks noGrp="1"/>
          </p:cNvSpPr>
          <p:nvPr/>
        </p:nvSpPr>
        <p:spPr>
          <a:xfrm>
            <a:off x="11658600" y="60293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2971BE9-0626-48FE-8CAE-A33F6B61B998}"/>
              </a:ext>
            </a:extLst>
          </p:cNvPr>
          <p:cNvSpPr>
            <a:spLocks noGrp="1"/>
          </p:cNvSpPr>
          <p:nvPr/>
        </p:nvSpPr>
        <p:spPr>
          <a:xfrm rot="10800000">
            <a:off x="11353800" y="63246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A5BB297-F317-4F36-9AD3-B3C381FF5AA0}"/>
              </a:ext>
            </a:extLst>
          </p:cNvPr>
          <p:cNvSpPr>
            <a:spLocks noGrp="1"/>
          </p:cNvSpPr>
          <p:nvPr/>
        </p:nvSpPr>
        <p:spPr>
          <a:xfrm rot="10800000">
            <a:off x="11658600" y="63246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F3B05E-0F82-4AAD-BA81-91553EA2138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32385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98A3C-EE7D-41C4-877A-524863E32E96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WHY MODELFORGE EXISTS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1F20FC-04CF-4E60-94E7-C3E27152961E}"/>
              </a:ext>
            </a:extLst>
          </p:cNvPr>
          <p:cNvSpPr>
            <a:spLocks noGrp="1"/>
          </p:cNvSpPr>
          <p:nvPr/>
        </p:nvSpPr>
        <p:spPr>
          <a:xfrm>
            <a:off x="933450" y="9906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A small neural network is a good place to see compiler design in action.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F669B7-CA00-45ED-90C4-F9FFD635F38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34E599-24B5-40D2-86D9-821638066DC4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EB4381-9C8F-483A-A934-AC363E1EF2B3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905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Running a model is easy. Understanding how the graph becomes executable code is the interesting part.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50195A-0033-407E-9729-8D26F9622E27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5619750" cy="47625"/>
          </a:xfrm>
          <a:prstGeom prst="rect">
            <a:avLst/>
          </a:prstGeom>
          <a:ln w="0"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6C76EB-ED6D-44A5-A0B6-D3FD900ECF67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4B8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4B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8F5E06-AFD3-4D76-ADED-21124774D9DA}"/>
              </a:ext>
            </a:extLst>
          </p:cNvPr>
          <p:cNvSpPr>
            <a:spLocks noGrp="1"/>
          </p:cNvSpPr>
          <p:nvPr/>
        </p:nvSpPr>
        <p:spPr>
          <a:xfrm>
            <a:off x="1200150" y="30289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Runtime dependency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435E12-C3F4-41CF-8722-BB4583BF68EB}"/>
              </a:ext>
            </a:extLst>
          </p:cNvPr>
          <p:cNvSpPr>
            <a:spLocks noGrp="1"/>
          </p:cNvSpPr>
          <p:nvPr/>
        </p:nvSpPr>
        <p:spPr>
          <a:xfrm>
            <a:off x="3543300" y="302895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Small models often need a large runtime just to make a prediction.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E97922-15C4-4E8B-983C-DE10AEE9E041}"/>
              </a:ext>
            </a:extLst>
          </p:cNvPr>
          <p:cNvSpPr>
            <a:spLocks noGrp="1"/>
          </p:cNvSpPr>
          <p:nvPr/>
        </p:nvSpPr>
        <p:spPr>
          <a:xfrm>
            <a:off x="1200150" y="3562350"/>
            <a:ext cx="5486400" cy="9525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887638-78B7-4F1B-81C1-FA580E0D83A1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0B5D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B5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78B026-8F04-4316-8D33-1CC2CF31958E}"/>
              </a:ext>
            </a:extLst>
          </p:cNvPr>
          <p:cNvSpPr>
            <a:spLocks noGrp="1"/>
          </p:cNvSpPr>
          <p:nvPr/>
        </p:nvSpPr>
        <p:spPr>
          <a:xfrm>
            <a:off x="1200150" y="38290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Hidden transformation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972BA1-116E-4028-A2F7-582159CB42EC}"/>
              </a:ext>
            </a:extLst>
          </p:cNvPr>
          <p:cNvSpPr>
            <a:spLocks noGrp="1"/>
          </p:cNvSpPr>
          <p:nvPr/>
        </p:nvSpPr>
        <p:spPr>
          <a:xfrm>
            <a:off x="3543300" y="382905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The path from model graph to machine code is usually invisible.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528CC9-841B-42ED-8383-CA1FE8195EF7}"/>
              </a:ext>
            </a:extLst>
          </p:cNvPr>
          <p:cNvSpPr>
            <a:spLocks noGrp="1"/>
          </p:cNvSpPr>
          <p:nvPr/>
        </p:nvSpPr>
        <p:spPr>
          <a:xfrm>
            <a:off x="1200150" y="4362450"/>
            <a:ext cx="5486400" cy="9525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7D4521-D3F9-4048-B766-BDD8F2D1D7DF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0C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C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D472DC-D022-4089-9C5E-BD3C86353E5D}"/>
              </a:ext>
            </a:extLst>
          </p:cNvPr>
          <p:cNvSpPr>
            <a:spLocks noGrp="1"/>
          </p:cNvSpPr>
          <p:nvPr/>
        </p:nvSpPr>
        <p:spPr>
          <a:xfrm>
            <a:off x="1200150" y="46291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Hard to verify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7FD0F5-A0F6-46B2-984A-B0691889D641}"/>
              </a:ext>
            </a:extLst>
          </p:cNvPr>
          <p:cNvSpPr>
            <a:spLocks noGrp="1"/>
          </p:cNvSpPr>
          <p:nvPr/>
        </p:nvSpPr>
        <p:spPr>
          <a:xfrm>
            <a:off x="3543300" y="462915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It is easy to say the output is correct. It is better to show why.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BAAB0E-E97C-434A-8EF7-7182952905CA}"/>
              </a:ext>
            </a:extLst>
          </p:cNvPr>
          <p:cNvSpPr>
            <a:spLocks noGrp="1"/>
          </p:cNvSpPr>
          <p:nvPr/>
        </p:nvSpPr>
        <p:spPr>
          <a:xfrm>
            <a:off x="1200150" y="5162550"/>
            <a:ext cx="5486400" cy="9525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18E0ED-6012-4040-8997-C7F40B736D6F}"/>
              </a:ext>
            </a:extLst>
          </p:cNvPr>
          <p:cNvSpPr>
            <a:spLocks noGrp="1"/>
          </p:cNvSpPr>
          <p:nvPr/>
        </p:nvSpPr>
        <p:spPr>
          <a:xfrm>
            <a:off x="7810500" y="1600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What changes?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FD9B2ED-CD75-423B-9F17-C3EEDB6ABA96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3238500" cy="1066800"/>
          </a:xfrm>
          <a:prstGeom prst="roundRect">
            <a:avLst>
              <a:gd name="adj" fmla="val 14286"/>
            </a:avLst>
          </a:prstGeom>
          <a:solidFill>
            <a:srgbClr val="082A6B"/>
          </a:solidFill>
          <a:ln w="9525">
            <a:solidFill>
              <a:srgbClr val="082A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 FILE</a:t>
            </a:r>
          </a:p>
          <a:p>
            <a:pPr algn="ctr">
              <a:buNone/>
              <a:defRPr sz="15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weights + operators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CAC709-4E24-40DF-9B80-3CB3DE315872}"/>
              </a:ext>
            </a:extLst>
          </p:cNvPr>
          <p:cNvSpPr>
            <a:spLocks noGrp="1"/>
          </p:cNvSpPr>
          <p:nvPr/>
        </p:nvSpPr>
        <p:spPr>
          <a:xfrm>
            <a:off x="7524750" y="4400550"/>
            <a:ext cx="3238500" cy="1066800"/>
          </a:xfrm>
          <a:prstGeom prst="roundRect">
            <a:avLst>
              <a:gd name="adj" fmla="val 14286"/>
            </a:avLst>
          </a:prstGeom>
          <a:solidFill>
            <a:srgbClr val="00C7C7"/>
          </a:solidFill>
          <a:ln w="9525">
            <a:solidFill>
              <a:srgbClr val="00C7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STANDALONE C++</a:t>
            </a:r>
          </a:p>
          <a:p>
            <a:pPr algn="ctr">
              <a:buNone/>
              <a:defRPr sz="15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readable inference</a:t>
            </a:r>
          </a:p>
        </p:txBody>
      </p:sp>
      <p:cxnSp>
        <p:nvCxnSpPr>
          <p:cNvPr id="263" name="Straight Arrow Connector 262"/>
          <p:cNvCxnSpPr>
            <a:stCxn id="35" idx="2"/>
            <a:endCxn id="36" idx="0"/>
          </p:cNvCxnSpPr>
          <p:nvPr/>
        </p:nvCxnSpPr>
        <p:spPr>
          <a:xfrm>
            <a:off x="9144000" y="3162300"/>
            <a:ext cx="0" cy="1238250"/>
          </a:xfrm>
          <a:prstGeom prst="straightConnector1">
            <a:avLst/>
          </a:prstGeom>
          <a:ln w="38100">
            <a:solidFill>
              <a:srgbClr val="00B5D2"/>
            </a:solidFill>
            <a:prstDash val="solid"/>
            <a:tailEnd type="triangle" w="med" len="med"/>
          </a:ln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E8120DB-E499-4163-8CCD-00A37C48CD09}"/>
              </a:ext>
            </a:extLst>
          </p:cNvPr>
          <p:cNvSpPr>
            <a:spLocks noGrp="1"/>
          </p:cNvSpPr>
          <p:nvPr/>
        </p:nvSpPr>
        <p:spPr>
          <a:xfrm>
            <a:off x="7372350" y="35433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0B5D2"/>
                </a:solidFill>
                <a:latin typeface="Arial"/>
                <a:ea typeface="Arial"/>
                <a:cs typeface="Arial"/>
              </a:defRPr>
            </a:pPr>
            <a:r>
              <a:rPr sz="1500" b="1" i="0" dirty="0" err="1">
                <a:solidFill>
                  <a:srgbClr val="00B5D2"/>
                </a:solidFill>
                <a:latin typeface="Arial"/>
                <a:ea typeface="Arial"/>
                <a:cs typeface="Arial"/>
              </a:rPr>
              <a:t>ModelForge</a:t>
            </a:r>
            <a:r>
              <a:rPr sz="1500" b="1" i="0" dirty="0">
                <a:solidFill>
                  <a:srgbClr val="00B5D2"/>
                </a:solidFill>
                <a:latin typeface="Arial"/>
                <a:ea typeface="Arial"/>
                <a:cs typeface="Arial"/>
              </a:rPr>
              <a:t> makes the middle visible.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16A7D3-D8DE-49B5-9F10-3D2983E1EA3C}"/>
              </a:ext>
            </a:extLst>
          </p:cNvPr>
          <p:cNvSpPr>
            <a:spLocks noGrp="1"/>
          </p:cNvSpPr>
          <p:nvPr/>
        </p:nvSpPr>
        <p:spPr>
          <a:xfrm>
            <a:off x="7524750" y="58102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 i="1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1050" b="0" i="1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901A6F6-C27E-49EB-8465-F6DA89E957BD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6000750" cy="9525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D9E39FA-BEBD-4DAF-B275-567824664480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082A6B"/>
                </a:solidFill>
                <a:latin typeface="Arial"/>
                <a:ea typeface="Arial"/>
                <a:cs typeface="Arial"/>
              </a:rPr>
              <a:t>P</a:t>
            </a:r>
            <a:r>
              <a:rPr sz="1275" b="1" i="0" dirty="0">
                <a:solidFill>
                  <a:srgbClr val="082A6B"/>
                </a:solidFill>
                <a:latin typeface="Arial"/>
                <a:ea typeface="Arial"/>
                <a:cs typeface="Arial"/>
              </a:rPr>
              <a:t>ayoff: inspect the code, test it locally, and explain why the answer is trustworthy.</a:t>
            </a:r>
          </a:p>
        </p:txBody>
      </p:sp>
    </p:spTree>
    <p:extLst>
      <p:ext uri="{BB962C8B-B14F-4D97-AF65-F5344CB8AC3E}">
        <p14:creationId xmlns:p14="http://schemas.microsoft.com/office/powerpoint/2010/main" val="1732789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heme-frame">
            <a:extLst>
              <a:ext uri="{FF2B5EF4-FFF2-40B4-BE49-F238E27FC236}">
                <a16:creationId xmlns:a16="http://schemas.microsoft.com/office/drawing/2014/main" id="{3AB722FE-267E-44AC-9CB5-5DAD0839FDB3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11849100" cy="6515100"/>
          </a:xfrm>
          <a:prstGeom prst="rect">
            <a:avLst/>
          </a:prstGeom>
          <a:noFill/>
          <a:ln w="9525">
            <a:solidFill>
              <a:srgbClr val="B9BEC6"/>
            </a:solidFill>
            <a:prstDash val="solid"/>
          </a:ln>
        </p:spPr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30009373-13C5-4480-82E2-2170492BAA23}"/>
              </a:ext>
            </a:extLst>
          </p:cNvPr>
          <p:cNvSpPr>
            <a:spLocks noGrp="1"/>
          </p:cNvSpPr>
          <p:nvPr/>
        </p:nvSpPr>
        <p:spPr>
          <a:xfrm>
            <a:off x="1905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B91B4C2-1612-4AB1-AD2F-6DA87E6FE2AF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2DADE35-76DB-4E75-8517-8D3333553C21}"/>
              </a:ext>
            </a:extLst>
          </p:cNvPr>
          <p:cNvSpPr>
            <a:spLocks noGrp="1"/>
          </p:cNvSpPr>
          <p:nvPr/>
        </p:nvSpPr>
        <p:spPr>
          <a:xfrm rot="10800000">
            <a:off x="1905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C1B3A57-FA55-442E-A7CF-3E8F8F2C6E4F}"/>
              </a:ext>
            </a:extLst>
          </p:cNvPr>
          <p:cNvSpPr>
            <a:spLocks noGrp="1"/>
          </p:cNvSpPr>
          <p:nvPr/>
        </p:nvSpPr>
        <p:spPr>
          <a:xfrm rot="10800000">
            <a:off x="4953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1DB7B2B2-415B-4C24-920B-A2B84EC272DC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EA40743-65F2-4252-A515-8057D6DB6A3E}"/>
              </a:ext>
            </a:extLst>
          </p:cNvPr>
          <p:cNvSpPr>
            <a:spLocks noGrp="1"/>
          </p:cNvSpPr>
          <p:nvPr/>
        </p:nvSpPr>
        <p:spPr>
          <a:xfrm rot="10800000">
            <a:off x="113538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282DBBD-625C-4E2E-B88B-E00B6DD66E35}"/>
              </a:ext>
            </a:extLst>
          </p:cNvPr>
          <p:cNvSpPr>
            <a:spLocks noGrp="1"/>
          </p:cNvSpPr>
          <p:nvPr/>
        </p:nvSpPr>
        <p:spPr>
          <a:xfrm rot="10800000">
            <a:off x="116586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D4586BC5-CD50-4795-8682-32D5FF7E904B}"/>
              </a:ext>
            </a:extLst>
          </p:cNvPr>
          <p:cNvSpPr>
            <a:spLocks noGrp="1"/>
          </p:cNvSpPr>
          <p:nvPr/>
        </p:nvSpPr>
        <p:spPr>
          <a:xfrm>
            <a:off x="113538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AE2B056-1208-4856-BFE8-D801EACD2C10}"/>
              </a:ext>
            </a:extLst>
          </p:cNvPr>
          <p:cNvSpPr>
            <a:spLocks noGrp="1"/>
          </p:cNvSpPr>
          <p:nvPr/>
        </p:nvSpPr>
        <p:spPr>
          <a:xfrm>
            <a:off x="116586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CE2C6F72-48C7-4A1B-B2CF-732447FE49BF}"/>
              </a:ext>
            </a:extLst>
          </p:cNvPr>
          <p:cNvSpPr>
            <a:spLocks noGrp="1"/>
          </p:cNvSpPr>
          <p:nvPr/>
        </p:nvSpPr>
        <p:spPr>
          <a:xfrm>
            <a:off x="11353800" y="60293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E392626-948B-4538-A53E-98201526E56D}"/>
              </a:ext>
            </a:extLst>
          </p:cNvPr>
          <p:cNvSpPr>
            <a:spLocks noGrp="1"/>
          </p:cNvSpPr>
          <p:nvPr/>
        </p:nvSpPr>
        <p:spPr>
          <a:xfrm>
            <a:off x="11658600" y="60293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F10C3CD-6850-4CBE-A8FF-5F7757031F34}"/>
              </a:ext>
            </a:extLst>
          </p:cNvPr>
          <p:cNvSpPr>
            <a:spLocks noGrp="1"/>
          </p:cNvSpPr>
          <p:nvPr/>
        </p:nvSpPr>
        <p:spPr>
          <a:xfrm rot="10800000">
            <a:off x="11353800" y="63246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B18E618-1091-415D-988E-05291E8C428A}"/>
              </a:ext>
            </a:extLst>
          </p:cNvPr>
          <p:cNvSpPr>
            <a:spLocks noGrp="1"/>
          </p:cNvSpPr>
          <p:nvPr/>
        </p:nvSpPr>
        <p:spPr>
          <a:xfrm rot="10800000">
            <a:off x="11658600" y="63246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9A3E6C-4F79-494A-A1A4-EBCC7FC1587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32385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3B60B4-2F48-4190-A4A7-9B5ABBF35110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THE DEMO MODEL: A SMALL IRIS CLASSIFIER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19DD44-E419-4D68-AA72-C35217059416}"/>
              </a:ext>
            </a:extLst>
          </p:cNvPr>
          <p:cNvSpPr>
            <a:spLocks noGrp="1"/>
          </p:cNvSpPr>
          <p:nvPr/>
        </p:nvSpPr>
        <p:spPr>
          <a:xfrm>
            <a:off x="933450" y="9906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The first example is deliberately small, so every step can be explained.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49BE6C-1B8F-4718-85F4-7C3EE978F8E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ModelForge  |  Compiler Design Laboratory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84A502-4E4D-4CE0-869C-2345EF8862F5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8B3C675-E3F2-4F97-9E2E-ED80F47AF4D3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4953000" cy="4000500"/>
          </a:xfrm>
          <a:prstGeom prst="roundRect">
            <a:avLst>
              <a:gd name="adj" fmla="val 3810"/>
            </a:avLst>
          </a:prstGeom>
          <a:solidFill>
            <a:srgbClr val="082A6B"/>
          </a:solidFill>
          <a:ln w="9525">
            <a:solidFill>
              <a:srgbClr val="082A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C7E6D6-2F51-4FFF-BE79-596C26CEEE5F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DE9E1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BDE9E1"/>
                </a:solidFill>
                <a:latin typeface="Consolas"/>
                <a:ea typeface="Consolas"/>
                <a:cs typeface="Consolas"/>
              </a:rPr>
              <a:t>iris_demo.mforge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F0270E-DFE1-495A-ADEB-38BEAAB27AA0}"/>
              </a:ext>
            </a:extLst>
          </p:cNvPr>
          <p:cNvSpPr>
            <a:spLocks noGrp="1"/>
          </p:cNvSpPr>
          <p:nvPr/>
        </p:nvSpPr>
        <p:spPr>
          <a:xfrm>
            <a:off x="952500" y="2171700"/>
            <a:ext cx="4362450" cy="9525"/>
          </a:xfrm>
          <a:prstGeom prst="rect">
            <a:avLst/>
          </a:prstGeom>
          <a:solidFill>
            <a:srgbClr val="2B465A"/>
          </a:solidFill>
          <a:ln w="0">
            <a:solidFill>
              <a:srgbClr val="2B465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6FE2A5-27C8-4840-B3A1-8BA9DA8C15A8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43434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rPr>
              <a:t>model iris_classifier</a:t>
            </a:r>
          </a:p>
          <a:p>
            <a:endParaRPr sz="1350" b="0" i="0">
              <a:solidFill>
                <a:srgbClr val="E9F2F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rPr>
              <a:t>input  x  float32  1,4</a:t>
            </a: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rPr>
              <a:t>output y  float32  1,3</a:t>
            </a:r>
          </a:p>
          <a:p>
            <a:endParaRPr sz="1350" b="0" i="0">
              <a:solidFill>
                <a:srgbClr val="E9F2F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rPr>
              <a:t>node dense_1  Gemm</a:t>
            </a: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rPr>
              <a:t>node activation_1  Relu</a:t>
            </a: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rPr>
              <a:t>node dense_2  Gemm</a:t>
            </a: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9F2F5"/>
                </a:solidFill>
                <a:latin typeface="Consolas"/>
                <a:ea typeface="Consolas"/>
                <a:cs typeface="Consolas"/>
              </a:rPr>
              <a:t>node probabilities  Softmax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CD4C5F-888C-4B97-ABC2-3A04C844BD35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0C7C7"/>
          </a:solidFill>
          <a:ln w="9525">
            <a:solidFill>
              <a:srgbClr val="00C7C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dependency-free input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147217-010A-445C-A23F-F127AF5D7633}"/>
              </a:ext>
            </a:extLst>
          </p:cNvPr>
          <p:cNvSpPr>
            <a:spLocks noGrp="1"/>
          </p:cNvSpPr>
          <p:nvPr/>
        </p:nvSpPr>
        <p:spPr>
          <a:xfrm>
            <a:off x="6457950" y="16192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What the network represents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4A80D3-B088-4812-B0E4-8C3761DE829B}"/>
              </a:ext>
            </a:extLst>
          </p:cNvPr>
          <p:cNvSpPr>
            <a:spLocks noGrp="1"/>
          </p:cNvSpPr>
          <p:nvPr/>
        </p:nvSpPr>
        <p:spPr>
          <a:xfrm>
            <a:off x="6457950" y="22479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4 input features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8D633F-F5A7-4EBA-A02F-B1080DB5182C}"/>
              </a:ext>
            </a:extLst>
          </p:cNvPr>
          <p:cNvSpPr>
            <a:spLocks noGrp="1"/>
          </p:cNvSpPr>
          <p:nvPr/>
        </p:nvSpPr>
        <p:spPr>
          <a:xfrm>
            <a:off x="8286750" y="22479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3 hidden values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53C3BF-1E44-4DE6-8BA6-4C0B31F4B42A}"/>
              </a:ext>
            </a:extLst>
          </p:cNvPr>
          <p:cNvSpPr>
            <a:spLocks noGrp="1"/>
          </p:cNvSpPr>
          <p:nvPr/>
        </p:nvSpPr>
        <p:spPr>
          <a:xfrm>
            <a:off x="10115550" y="22479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3 class scores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DA3422-889C-4F99-A9E7-7E07A9847300}"/>
              </a:ext>
            </a:extLst>
          </p:cNvPr>
          <p:cNvSpPr>
            <a:spLocks noGrp="1"/>
          </p:cNvSpPr>
          <p:nvPr/>
        </p:nvSpPr>
        <p:spPr>
          <a:xfrm>
            <a:off x="6934200" y="2876550"/>
            <a:ext cx="781050" cy="781050"/>
          </a:xfrm>
          <a:prstGeom prst="ellipse">
            <a:avLst/>
          </a:prstGeom>
          <a:solidFill>
            <a:srgbClr val="0B4B8F"/>
          </a:solidFill>
          <a:ln w="0">
            <a:solidFill>
              <a:srgbClr val="0B4B8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6D2DEBF-3263-4389-BD79-507754B85724}"/>
              </a:ext>
            </a:extLst>
          </p:cNvPr>
          <p:cNvSpPr>
            <a:spLocks noGrp="1"/>
          </p:cNvSpPr>
          <p:nvPr/>
        </p:nvSpPr>
        <p:spPr>
          <a:xfrm>
            <a:off x="8763000" y="2876550"/>
            <a:ext cx="781050" cy="781050"/>
          </a:xfrm>
          <a:prstGeom prst="ellipse">
            <a:avLst/>
          </a:prstGeom>
          <a:solidFill>
            <a:srgbClr val="00B5D2"/>
          </a:solidFill>
          <a:ln w="0">
            <a:solidFill>
              <a:srgbClr val="00B5D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77D573-6AD6-4192-B51D-FD6F15CC38EC}"/>
              </a:ext>
            </a:extLst>
          </p:cNvPr>
          <p:cNvSpPr>
            <a:spLocks noGrp="1"/>
          </p:cNvSpPr>
          <p:nvPr/>
        </p:nvSpPr>
        <p:spPr>
          <a:xfrm>
            <a:off x="10591800" y="2876550"/>
            <a:ext cx="781050" cy="781050"/>
          </a:xfrm>
          <a:prstGeom prst="ellips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234" name="Straight Arrow Connector 233"/>
          <p:cNvCxnSpPr>
            <a:stCxn id="29" idx="6"/>
            <a:endCxn id="30" idx="2"/>
          </p:cNvCxnSpPr>
          <p:nvPr/>
        </p:nvCxnSpPr>
        <p:spPr>
          <a:xfrm>
            <a:off x="7715250" y="3267075"/>
            <a:ext cx="1047750" cy="0"/>
          </a:xfrm>
          <a:prstGeom prst="straightConnector1">
            <a:avLst/>
          </a:prstGeom>
          <a:ln w="38100">
            <a:solidFill>
              <a:srgbClr val="C9CED6"/>
            </a:solidFill>
            <a:prstDash val="solid"/>
            <a:tailEnd type="triangle" w="sm" len="sm"/>
          </a:ln>
        </p:spPr>
      </p:cxnSp>
      <p:cxnSp>
        <p:nvCxnSpPr>
          <p:cNvPr id="235" name="Straight Arrow Connector 234"/>
          <p:cNvCxnSpPr>
            <a:stCxn id="30" idx="6"/>
            <a:endCxn id="31" idx="2"/>
          </p:cNvCxnSpPr>
          <p:nvPr/>
        </p:nvCxnSpPr>
        <p:spPr>
          <a:xfrm>
            <a:off x="9544050" y="3267075"/>
            <a:ext cx="1047750" cy="0"/>
          </a:xfrm>
          <a:prstGeom prst="straightConnector1">
            <a:avLst/>
          </a:prstGeom>
          <a:ln w="38100">
            <a:solidFill>
              <a:srgbClr val="C9CED6"/>
            </a:solidFill>
            <a:prstDash val="solid"/>
            <a:tailEnd type="triangle" w="sm" len="sm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FD16436-F6D6-4D8F-8146-588B02026E7B}"/>
              </a:ext>
            </a:extLst>
          </p:cNvPr>
          <p:cNvSpPr>
            <a:spLocks noGrp="1"/>
          </p:cNvSpPr>
          <p:nvPr/>
        </p:nvSpPr>
        <p:spPr>
          <a:xfrm>
            <a:off x="7943850" y="39433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0B5D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B5D2"/>
                </a:solidFill>
                <a:latin typeface="Arial"/>
                <a:ea typeface="Arial"/>
                <a:cs typeface="Arial"/>
              </a:rPr>
              <a:t>Gemm + ReLU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9D8873-29AB-479E-BFA7-166091255C64}"/>
              </a:ext>
            </a:extLst>
          </p:cNvPr>
          <p:cNvSpPr>
            <a:spLocks noGrp="1"/>
          </p:cNvSpPr>
          <p:nvPr/>
        </p:nvSpPr>
        <p:spPr>
          <a:xfrm>
            <a:off x="9677400" y="4267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0C7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C7C7"/>
                </a:solidFill>
                <a:latin typeface="Arial"/>
                <a:ea typeface="Arial"/>
                <a:cs typeface="Arial"/>
              </a:rPr>
              <a:t>Gemm + Softmax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45DC10-7F5B-4557-9B26-7B997DF0C1DB}"/>
              </a:ext>
            </a:extLst>
          </p:cNvPr>
          <p:cNvSpPr>
            <a:spLocks noGrp="1"/>
          </p:cNvSpPr>
          <p:nvPr/>
        </p:nvSpPr>
        <p:spPr>
          <a:xfrm>
            <a:off x="6457950" y="5257800"/>
            <a:ext cx="487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The input and output shapes stay simple: [1,4] in, [1,3] out.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1F4C8A-00DC-4404-A0C9-C2A2C99996D2}"/>
              </a:ext>
            </a:extLst>
          </p:cNvPr>
          <p:cNvSpPr>
            <a:spLocks noGrp="1"/>
          </p:cNvSpPr>
          <p:nvPr/>
        </p:nvSpPr>
        <p:spPr>
          <a:xfrm>
            <a:off x="6457950" y="5943600"/>
            <a:ext cx="487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 i="1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7B8189"/>
                </a:solidFill>
                <a:latin typeface="Arial"/>
                <a:ea typeface="Arial"/>
                <a:cs typeface="Arial"/>
              </a:rPr>
              <a:t>The basic submission uses the .mforge manifest; real ONNX loading is an optional extension.</a:t>
            </a:r>
          </a:p>
        </p:txBody>
      </p:sp>
    </p:spTree>
    <p:extLst>
      <p:ext uri="{BB962C8B-B14F-4D97-AF65-F5344CB8AC3E}">
        <p14:creationId xmlns:p14="http://schemas.microsoft.com/office/powerpoint/2010/main" val="103825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heme-frame">
            <a:extLst>
              <a:ext uri="{FF2B5EF4-FFF2-40B4-BE49-F238E27FC236}">
                <a16:creationId xmlns:a16="http://schemas.microsoft.com/office/drawing/2014/main" id="{681B8718-8AA5-4181-B007-71A0A66074A2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11849100" cy="6515100"/>
          </a:xfrm>
          <a:prstGeom prst="rect">
            <a:avLst/>
          </a:prstGeom>
          <a:noFill/>
          <a:ln w="9525">
            <a:solidFill>
              <a:srgbClr val="B9BEC6"/>
            </a:solidFill>
            <a:prstDash val="solid"/>
          </a:ln>
        </p:spPr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B808614F-45CD-444D-8346-805196AA5316}"/>
              </a:ext>
            </a:extLst>
          </p:cNvPr>
          <p:cNvSpPr>
            <a:spLocks noGrp="1"/>
          </p:cNvSpPr>
          <p:nvPr/>
        </p:nvSpPr>
        <p:spPr>
          <a:xfrm>
            <a:off x="1905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CE712032-2F1C-46D4-AE5A-2A9268DAD792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20AE830-C2EC-4C47-ABFD-0B50AA32317A}"/>
              </a:ext>
            </a:extLst>
          </p:cNvPr>
          <p:cNvSpPr>
            <a:spLocks noGrp="1"/>
          </p:cNvSpPr>
          <p:nvPr/>
        </p:nvSpPr>
        <p:spPr>
          <a:xfrm rot="10800000">
            <a:off x="1905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B247456-358D-4960-8288-B1DE9033E349}"/>
              </a:ext>
            </a:extLst>
          </p:cNvPr>
          <p:cNvSpPr>
            <a:spLocks noGrp="1"/>
          </p:cNvSpPr>
          <p:nvPr/>
        </p:nvSpPr>
        <p:spPr>
          <a:xfrm rot="10800000">
            <a:off x="4953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6E374B7-6DD4-4FCE-9D95-55E398C4245C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193D6E0-7E2E-4D78-8DCF-5749640182A2}"/>
              </a:ext>
            </a:extLst>
          </p:cNvPr>
          <p:cNvSpPr>
            <a:spLocks noGrp="1"/>
          </p:cNvSpPr>
          <p:nvPr/>
        </p:nvSpPr>
        <p:spPr>
          <a:xfrm rot="10800000">
            <a:off x="113538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F65C51E-00F2-49B8-A1F5-3B62C01E63A1}"/>
              </a:ext>
            </a:extLst>
          </p:cNvPr>
          <p:cNvSpPr>
            <a:spLocks noGrp="1"/>
          </p:cNvSpPr>
          <p:nvPr/>
        </p:nvSpPr>
        <p:spPr>
          <a:xfrm rot="10800000">
            <a:off x="116586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22882E6-5323-490C-8733-E4B239BC428F}"/>
              </a:ext>
            </a:extLst>
          </p:cNvPr>
          <p:cNvSpPr>
            <a:spLocks noGrp="1"/>
          </p:cNvSpPr>
          <p:nvPr/>
        </p:nvSpPr>
        <p:spPr>
          <a:xfrm>
            <a:off x="113538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EC74926-880D-445A-B610-A6F155402101}"/>
              </a:ext>
            </a:extLst>
          </p:cNvPr>
          <p:cNvSpPr>
            <a:spLocks noGrp="1"/>
          </p:cNvSpPr>
          <p:nvPr/>
        </p:nvSpPr>
        <p:spPr>
          <a:xfrm>
            <a:off x="116586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22552D5D-4983-4975-A6BB-528528EAA53C}"/>
              </a:ext>
            </a:extLst>
          </p:cNvPr>
          <p:cNvSpPr>
            <a:spLocks noGrp="1"/>
          </p:cNvSpPr>
          <p:nvPr/>
        </p:nvSpPr>
        <p:spPr>
          <a:xfrm>
            <a:off x="11353800" y="60293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7743570-51EB-4B7B-8181-1F3274035486}"/>
              </a:ext>
            </a:extLst>
          </p:cNvPr>
          <p:cNvSpPr>
            <a:spLocks noGrp="1"/>
          </p:cNvSpPr>
          <p:nvPr/>
        </p:nvSpPr>
        <p:spPr>
          <a:xfrm>
            <a:off x="11658600" y="60293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D100601F-FB34-4E18-9111-2267CF1DE400}"/>
              </a:ext>
            </a:extLst>
          </p:cNvPr>
          <p:cNvSpPr>
            <a:spLocks noGrp="1"/>
          </p:cNvSpPr>
          <p:nvPr/>
        </p:nvSpPr>
        <p:spPr>
          <a:xfrm rot="10800000">
            <a:off x="11353800" y="63246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BEA34ED-62F0-4F71-AA31-ED0C44665CF3}"/>
              </a:ext>
            </a:extLst>
          </p:cNvPr>
          <p:cNvSpPr>
            <a:spLocks noGrp="1"/>
          </p:cNvSpPr>
          <p:nvPr/>
        </p:nvSpPr>
        <p:spPr>
          <a:xfrm rot="10800000">
            <a:off x="11658600" y="63246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301088-C13E-4625-AD7B-2B97173DF36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32385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77609-D93D-414D-BD18-9E39676D45B4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THE WORKFLOW, END TO 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98E34C-CB15-4768-AA6C-19F9423D9BB1}"/>
              </a:ext>
            </a:extLst>
          </p:cNvPr>
          <p:cNvSpPr>
            <a:spLocks noGrp="1"/>
          </p:cNvSpPr>
          <p:nvPr/>
        </p:nvSpPr>
        <p:spPr>
          <a:xfrm>
            <a:off x="933450" y="9906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Each stage has one job, and the output of one stage becomes the input to the next.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3B9D10-7BCB-4EE7-8D34-859E8D21800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A05F18-6BCE-409C-AEA3-ACF1C635F87D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B12214F-9EBE-4757-AEE6-21063EEF280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6192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0B4B8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4C9DCC-756C-480C-8F31-94DF4631DD5E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400050" cy="400050"/>
          </a:xfrm>
          <a:prstGeom prst="ellipse">
            <a:avLst/>
          </a:prstGeom>
          <a:solidFill>
            <a:srgbClr val="0B4B8F"/>
          </a:solidFill>
          <a:ln w="0">
            <a:solidFill>
              <a:srgbClr val="0B4B8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E95175-CF32-4D43-8822-EA99E3359EC5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980FCB-C6AF-42DB-BBA3-BC2F0C923AD7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Read the model file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79CFB6-9D6C-416D-B557-260A79E2F436}"/>
              </a:ext>
            </a:extLst>
          </p:cNvPr>
          <p:cNvSpPr>
            <a:spLocks noGrp="1"/>
          </p:cNvSpPr>
          <p:nvPr/>
        </p:nvSpPr>
        <p:spPr>
          <a:xfrm>
            <a:off x="2686050" y="2209800"/>
            <a:ext cx="16192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00B5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FB9BDF-9F1B-4CBC-AEBC-D846BB61284D}"/>
              </a:ext>
            </a:extLst>
          </p:cNvPr>
          <p:cNvSpPr>
            <a:spLocks noGrp="1"/>
          </p:cNvSpPr>
          <p:nvPr/>
        </p:nvSpPr>
        <p:spPr>
          <a:xfrm>
            <a:off x="2838450" y="2381250"/>
            <a:ext cx="400050" cy="400050"/>
          </a:xfrm>
          <a:prstGeom prst="ellipse">
            <a:avLst/>
          </a:prstGeom>
          <a:solidFill>
            <a:srgbClr val="00B5D2"/>
          </a:solidFill>
          <a:ln w="0">
            <a:solidFill>
              <a:srgbClr val="00B5D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C44E9A-4378-4C98-A619-C2E4D21B5133}"/>
              </a:ext>
            </a:extLst>
          </p:cNvPr>
          <p:cNvSpPr>
            <a:spLocks noGrp="1"/>
          </p:cNvSpPr>
          <p:nvPr/>
        </p:nvSpPr>
        <p:spPr>
          <a:xfrm>
            <a:off x="3219450" y="24003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E9C224-ED3F-40B4-880A-6039990EDC40}"/>
              </a:ext>
            </a:extLst>
          </p:cNvPr>
          <p:cNvSpPr>
            <a:spLocks noGrp="1"/>
          </p:cNvSpPr>
          <p:nvPr/>
        </p:nvSpPr>
        <p:spPr>
          <a:xfrm>
            <a:off x="2857500" y="304800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Check names, types, shapes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73905A0-89AC-421D-8E4D-A48B6E02AF9B}"/>
              </a:ext>
            </a:extLst>
          </p:cNvPr>
          <p:cNvSpPr>
            <a:spLocks noGrp="1"/>
          </p:cNvSpPr>
          <p:nvPr/>
        </p:nvSpPr>
        <p:spPr>
          <a:xfrm>
            <a:off x="4686300" y="2209800"/>
            <a:ext cx="16192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087FA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3666CD-D855-4BED-88B6-0434BFE1A6CF}"/>
              </a:ext>
            </a:extLst>
          </p:cNvPr>
          <p:cNvSpPr>
            <a:spLocks noGrp="1"/>
          </p:cNvSpPr>
          <p:nvPr/>
        </p:nvSpPr>
        <p:spPr>
          <a:xfrm>
            <a:off x="4838700" y="2381250"/>
            <a:ext cx="400050" cy="400050"/>
          </a:xfrm>
          <a:prstGeom prst="ellipse">
            <a:avLst/>
          </a:prstGeom>
          <a:solidFill>
            <a:srgbClr val="087FAE"/>
          </a:solidFill>
          <a:ln w="0">
            <a:solidFill>
              <a:srgbClr val="087F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702B17-AC25-40FA-B55C-B0378F8BFA5A}"/>
              </a:ext>
            </a:extLst>
          </p:cNvPr>
          <p:cNvSpPr>
            <a:spLocks noGrp="1"/>
          </p:cNvSpPr>
          <p:nvPr/>
        </p:nvSpPr>
        <p:spPr>
          <a:xfrm>
            <a:off x="5219700" y="24003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B4A681-144B-4C50-A21A-EBF08E249B19}"/>
              </a:ext>
            </a:extLst>
          </p:cNvPr>
          <p:cNvSpPr>
            <a:spLocks noGrp="1"/>
          </p:cNvSpPr>
          <p:nvPr/>
        </p:nvSpPr>
        <p:spPr>
          <a:xfrm>
            <a:off x="4857750" y="304800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Build ModelForge IR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9CDA4F1-DAEC-49D1-971F-424A53FE77EC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6192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00C7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B23AB84-4848-4EC4-8DAE-D137D2A18CC1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400050" cy="400050"/>
          </a:xfrm>
          <a:prstGeom prst="ellips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13B4F9-4D5D-4130-9786-E083C5C0DEA7}"/>
              </a:ext>
            </a:extLst>
          </p:cNvPr>
          <p:cNvSpPr>
            <a:spLocks noGrp="1"/>
          </p:cNvSpPr>
          <p:nvPr/>
        </p:nvSpPr>
        <p:spPr>
          <a:xfrm>
            <a:off x="7219950" y="24003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637E32-85B1-4FF2-B72F-2B253C405A7F}"/>
              </a:ext>
            </a:extLst>
          </p:cNvPr>
          <p:cNvSpPr>
            <a:spLocks noGrp="1"/>
          </p:cNvSpPr>
          <p:nvPr/>
        </p:nvSpPr>
        <p:spPr>
          <a:xfrm>
            <a:off x="6858000" y="304800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Remove work we do not need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7277B73-4C94-4DF8-ABE4-32F26678C780}"/>
              </a:ext>
            </a:extLst>
          </p:cNvPr>
          <p:cNvSpPr>
            <a:spLocks noGrp="1"/>
          </p:cNvSpPr>
          <p:nvPr/>
        </p:nvSpPr>
        <p:spPr>
          <a:xfrm>
            <a:off x="8686800" y="2209800"/>
            <a:ext cx="16192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8C6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B247C8E-433D-473E-86C1-928BA2487561}"/>
              </a:ext>
            </a:extLst>
          </p:cNvPr>
          <p:cNvSpPr>
            <a:spLocks noGrp="1"/>
          </p:cNvSpPr>
          <p:nvPr/>
        </p:nvSpPr>
        <p:spPr>
          <a:xfrm>
            <a:off x="8839200" y="2381250"/>
            <a:ext cx="400050" cy="400050"/>
          </a:xfrm>
          <a:prstGeom prst="ellipse">
            <a:avLst/>
          </a:prstGeom>
          <a:solidFill>
            <a:srgbClr val="18C6C0"/>
          </a:solidFill>
          <a:ln w="0">
            <a:solidFill>
              <a:srgbClr val="18C6C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3F5222-9037-4142-9D06-EC028E669652}"/>
              </a:ext>
            </a:extLst>
          </p:cNvPr>
          <p:cNvSpPr>
            <a:spLocks noGrp="1"/>
          </p:cNvSpPr>
          <p:nvPr/>
        </p:nvSpPr>
        <p:spPr>
          <a:xfrm>
            <a:off x="9220200" y="24003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F148B5-9DC0-4C5F-862A-6BECF2E8E05A}"/>
              </a:ext>
            </a:extLst>
          </p:cNvPr>
          <p:cNvSpPr>
            <a:spLocks noGrp="1"/>
          </p:cNvSpPr>
          <p:nvPr/>
        </p:nvSpPr>
        <p:spPr>
          <a:xfrm>
            <a:off x="8858250" y="304800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Write model.cpp + model.h</a:t>
            </a:r>
          </a:p>
        </p:txBody>
      </p:sp>
      <p:cxnSp>
        <p:nvCxnSpPr>
          <p:cNvPr id="323" name="Straight Arrow Connector 322"/>
          <p:cNvCxnSpPr>
            <a:stCxn id="20" idx="3"/>
            <a:endCxn id="24" idx="1"/>
          </p:cNvCxnSpPr>
          <p:nvPr/>
        </p:nvCxnSpPr>
        <p:spPr>
          <a:xfrm>
            <a:off x="2305050" y="2990850"/>
            <a:ext cx="381000" cy="0"/>
          </a:xfrm>
          <a:prstGeom prst="straightConnector1">
            <a:avLst/>
          </a:prstGeom>
          <a:ln w="19050">
            <a:solidFill>
              <a:srgbClr val="123266"/>
            </a:solidFill>
            <a:prstDash val="solid"/>
            <a:tailEnd type="triangle" w="sm" len="sm"/>
          </a:ln>
        </p:spPr>
      </p:cxnSp>
      <p:cxnSp>
        <p:nvCxnSpPr>
          <p:cNvPr id="324" name="Straight Arrow Connector 323"/>
          <p:cNvCxnSpPr>
            <a:stCxn id="24" idx="3"/>
            <a:endCxn id="28" idx="1"/>
          </p:cNvCxnSpPr>
          <p:nvPr/>
        </p:nvCxnSpPr>
        <p:spPr>
          <a:xfrm>
            <a:off x="4305300" y="2990850"/>
            <a:ext cx="381000" cy="0"/>
          </a:xfrm>
          <a:prstGeom prst="straightConnector1">
            <a:avLst/>
          </a:prstGeom>
          <a:ln w="19050">
            <a:solidFill>
              <a:srgbClr val="123266"/>
            </a:solidFill>
            <a:prstDash val="solid"/>
            <a:tailEnd type="triangle" w="sm" len="sm"/>
          </a:ln>
        </p:spPr>
      </p:cxnSp>
      <p:cxnSp>
        <p:nvCxnSpPr>
          <p:cNvPr id="325" name="Straight Arrow Connector 324"/>
          <p:cNvCxnSpPr>
            <a:stCxn id="28" idx="3"/>
            <a:endCxn id="32" idx="1"/>
          </p:cNvCxnSpPr>
          <p:nvPr/>
        </p:nvCxnSpPr>
        <p:spPr>
          <a:xfrm>
            <a:off x="6305550" y="2990850"/>
            <a:ext cx="381000" cy="0"/>
          </a:xfrm>
          <a:prstGeom prst="straightConnector1">
            <a:avLst/>
          </a:prstGeom>
          <a:ln w="19050">
            <a:solidFill>
              <a:srgbClr val="123266"/>
            </a:solidFill>
            <a:prstDash val="solid"/>
            <a:tailEnd type="triangle" w="sm" len="sm"/>
          </a:ln>
        </p:spPr>
      </p:cxnSp>
      <p:cxnSp>
        <p:nvCxnSpPr>
          <p:cNvPr id="326" name="Straight Arrow Connector 325"/>
          <p:cNvCxnSpPr>
            <a:stCxn id="32" idx="3"/>
            <a:endCxn id="36" idx="1"/>
          </p:cNvCxnSpPr>
          <p:nvPr/>
        </p:nvCxnSpPr>
        <p:spPr>
          <a:xfrm>
            <a:off x="8305800" y="2990850"/>
            <a:ext cx="381000" cy="0"/>
          </a:xfrm>
          <a:prstGeom prst="straightConnector1">
            <a:avLst/>
          </a:prstGeom>
          <a:ln w="19050">
            <a:solidFill>
              <a:srgbClr val="123266"/>
            </a:solidFill>
            <a:prstDash val="solid"/>
            <a:tailEnd type="triangle" w="sm" len="sm"/>
          </a:ln>
        </p:spPr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7087DC0-07F6-47BA-B52F-92DFF1ED4065}"/>
              </a:ext>
            </a:extLst>
          </p:cNvPr>
          <p:cNvSpPr>
            <a:spLocks noGrp="1"/>
          </p:cNvSpPr>
          <p:nvPr/>
        </p:nvSpPr>
        <p:spPr>
          <a:xfrm>
            <a:off x="2038350" y="4572000"/>
            <a:ext cx="3257550" cy="895350"/>
          </a:xfrm>
          <a:prstGeom prst="roundRect">
            <a:avLst>
              <a:gd name="adj" fmla="val 17021"/>
            </a:avLst>
          </a:prstGeom>
          <a:solidFill>
            <a:srgbClr val="082A6B"/>
          </a:solidFill>
          <a:ln w="9525">
            <a:solidFill>
              <a:srgbClr val="082A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build + inference</a:t>
            </a:r>
          </a:p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the generated program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3833C81-B844-42CC-AC3D-3784E8899BF0}"/>
              </a:ext>
            </a:extLst>
          </p:cNvPr>
          <p:cNvSpPr>
            <a:spLocks noGrp="1"/>
          </p:cNvSpPr>
          <p:nvPr/>
        </p:nvSpPr>
        <p:spPr>
          <a:xfrm>
            <a:off x="6877050" y="4572000"/>
            <a:ext cx="3257550" cy="895350"/>
          </a:xfrm>
          <a:prstGeom prst="roundRect">
            <a:avLst>
              <a:gd name="adj" fmla="val 17021"/>
            </a:avLst>
          </a:prstGeom>
          <a:solidFill>
            <a:srgbClr val="00C7C7"/>
          </a:solidFill>
          <a:ln w="9525">
            <a:solidFill>
              <a:srgbClr val="00C7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the result</a:t>
            </a:r>
          </a:p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the prediction</a:t>
            </a:r>
          </a:p>
        </p:txBody>
      </p:sp>
      <p:cxnSp>
        <p:nvCxnSpPr>
          <p:cNvPr id="329" name="Connector: Elbow 328"/>
          <p:cNvCxnSpPr>
            <a:stCxn id="36" idx="2"/>
            <a:endCxn id="44" idx="0"/>
          </p:cNvCxnSpPr>
          <p:nvPr/>
        </p:nvCxnSpPr>
        <p:spPr>
          <a:xfrm flipH="1">
            <a:off x="3667125" y="3771900"/>
            <a:ext cx="5829300" cy="8001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23266"/>
            </a:solidFill>
            <a:prstDash val="solid"/>
            <a:tailEnd type="triangle" w="sm" len="sm"/>
          </a:ln>
        </p:spPr>
      </p:cxnSp>
      <p:cxnSp>
        <p:nvCxnSpPr>
          <p:cNvPr id="330" name="Straight Arrow Connector 329"/>
          <p:cNvCxnSpPr>
            <a:stCxn id="44" idx="3"/>
            <a:endCxn id="45" idx="1"/>
          </p:cNvCxnSpPr>
          <p:nvPr/>
        </p:nvCxnSpPr>
        <p:spPr>
          <a:xfrm>
            <a:off x="5295900" y="5019675"/>
            <a:ext cx="1581150" cy="0"/>
          </a:xfrm>
          <a:prstGeom prst="straightConnector1">
            <a:avLst/>
          </a:prstGeom>
          <a:ln w="28575">
            <a:solidFill>
              <a:srgbClr val="00C7C7"/>
            </a:solidFill>
            <a:prstDash val="solid"/>
            <a:tailEnd type="triangle" w="med" len="med"/>
          </a:ln>
        </p:spPr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2E8CBCA-0353-4764-B537-B31F01F53C91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The final check answers the only question that really matters: did the generated program keep the model's meaning?</a:t>
            </a:r>
          </a:p>
        </p:txBody>
      </p:sp>
    </p:spTree>
    <p:extLst>
      <p:ext uri="{BB962C8B-B14F-4D97-AF65-F5344CB8AC3E}">
        <p14:creationId xmlns:p14="http://schemas.microsoft.com/office/powerpoint/2010/main" val="125663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heme-frame">
            <a:extLst>
              <a:ext uri="{FF2B5EF4-FFF2-40B4-BE49-F238E27FC236}">
                <a16:creationId xmlns:a16="http://schemas.microsoft.com/office/drawing/2014/main" id="{D7E3AE54-E9FD-4169-AEE1-E768F1F67F6A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11849100" cy="6515100"/>
          </a:xfrm>
          <a:prstGeom prst="rect">
            <a:avLst/>
          </a:prstGeom>
          <a:noFill/>
          <a:ln w="9525">
            <a:solidFill>
              <a:srgbClr val="B9BEC6"/>
            </a:solidFill>
            <a:prstDash val="solid"/>
          </a:ln>
        </p:spPr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F4B7627C-2A05-42D7-8B07-85305C797829}"/>
              </a:ext>
            </a:extLst>
          </p:cNvPr>
          <p:cNvSpPr>
            <a:spLocks noGrp="1"/>
          </p:cNvSpPr>
          <p:nvPr/>
        </p:nvSpPr>
        <p:spPr>
          <a:xfrm>
            <a:off x="1905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7C5ABF8-964D-4FFD-88A1-51F8865B1D96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730E9DCF-9833-45B2-9DBB-24346A203769}"/>
              </a:ext>
            </a:extLst>
          </p:cNvPr>
          <p:cNvSpPr>
            <a:spLocks noGrp="1"/>
          </p:cNvSpPr>
          <p:nvPr/>
        </p:nvSpPr>
        <p:spPr>
          <a:xfrm rot="10800000">
            <a:off x="1905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6E6BF54-AEF6-4D89-BF67-B56CDDC16FEF}"/>
              </a:ext>
            </a:extLst>
          </p:cNvPr>
          <p:cNvSpPr>
            <a:spLocks noGrp="1"/>
          </p:cNvSpPr>
          <p:nvPr/>
        </p:nvSpPr>
        <p:spPr>
          <a:xfrm rot="10800000">
            <a:off x="4953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42AC0DE-0646-47D2-BE06-66029E52751C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98AD36BC-0183-497C-B4BB-D04A0B538A8A}"/>
              </a:ext>
            </a:extLst>
          </p:cNvPr>
          <p:cNvSpPr>
            <a:spLocks noGrp="1"/>
          </p:cNvSpPr>
          <p:nvPr/>
        </p:nvSpPr>
        <p:spPr>
          <a:xfrm rot="10800000">
            <a:off x="113538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C9B9BF0-2910-4090-838C-6147CBAF81FB}"/>
              </a:ext>
            </a:extLst>
          </p:cNvPr>
          <p:cNvSpPr>
            <a:spLocks noGrp="1"/>
          </p:cNvSpPr>
          <p:nvPr/>
        </p:nvSpPr>
        <p:spPr>
          <a:xfrm rot="10800000">
            <a:off x="116586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3DF9C91-EF64-414D-9531-8AB0931720E0}"/>
              </a:ext>
            </a:extLst>
          </p:cNvPr>
          <p:cNvSpPr>
            <a:spLocks noGrp="1"/>
          </p:cNvSpPr>
          <p:nvPr/>
        </p:nvSpPr>
        <p:spPr>
          <a:xfrm>
            <a:off x="113538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267FBA3-E17C-46E6-AE1B-6568D3C77548}"/>
              </a:ext>
            </a:extLst>
          </p:cNvPr>
          <p:cNvSpPr>
            <a:spLocks noGrp="1"/>
          </p:cNvSpPr>
          <p:nvPr/>
        </p:nvSpPr>
        <p:spPr>
          <a:xfrm>
            <a:off x="116586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DFD1829A-B9AD-4BA8-9F19-19390DC45EDC}"/>
              </a:ext>
            </a:extLst>
          </p:cNvPr>
          <p:cNvSpPr>
            <a:spLocks noGrp="1"/>
          </p:cNvSpPr>
          <p:nvPr/>
        </p:nvSpPr>
        <p:spPr>
          <a:xfrm>
            <a:off x="11353800" y="60293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ABE8551-9C80-4A6E-B149-50A36B8E8D6D}"/>
              </a:ext>
            </a:extLst>
          </p:cNvPr>
          <p:cNvSpPr>
            <a:spLocks noGrp="1"/>
          </p:cNvSpPr>
          <p:nvPr/>
        </p:nvSpPr>
        <p:spPr>
          <a:xfrm>
            <a:off x="11658600" y="60293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750115C-08B7-4604-A368-B9134A388174}"/>
              </a:ext>
            </a:extLst>
          </p:cNvPr>
          <p:cNvSpPr>
            <a:spLocks noGrp="1"/>
          </p:cNvSpPr>
          <p:nvPr/>
        </p:nvSpPr>
        <p:spPr>
          <a:xfrm rot="10800000">
            <a:off x="11353800" y="63246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A55A226-4388-4785-99C6-A746B8B5DE1F}"/>
              </a:ext>
            </a:extLst>
          </p:cNvPr>
          <p:cNvSpPr>
            <a:spLocks noGrp="1"/>
          </p:cNvSpPr>
          <p:nvPr/>
        </p:nvSpPr>
        <p:spPr>
          <a:xfrm rot="10800000">
            <a:off x="11658600" y="63246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26C21F-4D22-49C0-8DC5-EA64AD3D778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32385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CA08EF-E134-4AAA-9B63-DCFE8786FE22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WHAT HAPPENS INSIDE THE COMPILER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9A1C44-7CE3-47CA-8168-761A532BFDB9}"/>
              </a:ext>
            </a:extLst>
          </p:cNvPr>
          <p:cNvSpPr>
            <a:spLocks noGrp="1"/>
          </p:cNvSpPr>
          <p:nvPr/>
        </p:nvSpPr>
        <p:spPr>
          <a:xfrm>
            <a:off x="933450" y="9906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The custom IR keeps the file format separate from the generated C++.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3254A2-F3B2-45BE-A573-B8F8E30B599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880A07-F1E4-4A72-AE2F-42183C6222CD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1EF27-DAE8-48C7-A7D1-A7862F153420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B4B8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4B8F"/>
                </a:solidFill>
                <a:latin typeface="Arial"/>
                <a:ea typeface="Arial"/>
                <a:cs typeface="Arial"/>
              </a:rPr>
              <a:t>Front end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FEC5F6-1AFB-42AC-B544-5AE93F5A20C1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87FA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FAE"/>
                </a:solidFill>
                <a:latin typeface="Arial"/>
                <a:ea typeface="Arial"/>
                <a:cs typeface="Arial"/>
              </a:rPr>
              <a:t>Middle end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9E620B-0481-4715-981D-BA8A8D32A460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0C7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C7C7"/>
                </a:solidFill>
                <a:latin typeface="Arial"/>
                <a:ea typeface="Arial"/>
                <a:cs typeface="Arial"/>
              </a:rPr>
              <a:t>Back 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F9ADA5-BC63-4D70-8B1F-0948ABD8FA68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428750" cy="38100"/>
          </a:xfrm>
          <a:prstGeom prst="rect">
            <a:avLst/>
          </a:prstGeom>
          <a:solidFill>
            <a:srgbClr val="0B4B8F"/>
          </a:solidFill>
          <a:ln w="0">
            <a:solidFill>
              <a:srgbClr val="0B4B8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7E54A7-9388-442E-8FB9-649D50702BF7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428750" cy="38100"/>
          </a:xfrm>
          <a:prstGeom prst="rect">
            <a:avLst/>
          </a:prstGeom>
          <a:solidFill>
            <a:srgbClr val="087FAE"/>
          </a:solidFill>
          <a:ln w="0">
            <a:solidFill>
              <a:srgbClr val="087FA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9A4F44-424B-465C-BA23-D1D18B3E2732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428750" cy="3810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753B76-21E6-4C57-A9BD-FDC704D02D44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Loads the graph and checks whether it makes sense.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012E55-99A8-479A-8A50-0A8F6FE3EC6F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Turns model operations into a compiler-owned language.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1F7E58-BC0B-4FC6-8EA3-E75CD3972436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Prints ordinary C++ that can build on its own.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002011-45DE-478E-911D-59B9F64DB5E9}"/>
              </a:ext>
            </a:extLst>
          </p:cNvPr>
          <p:cNvSpPr>
            <a:spLocks noGrp="1"/>
          </p:cNvSpPr>
          <p:nvPr/>
        </p:nvSpPr>
        <p:spPr>
          <a:xfrm>
            <a:off x="3429000" y="1638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Before optimization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113C5B7-D9BD-4BEE-B5CA-402B0BB8CA7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3238500" cy="781050"/>
          </a:xfrm>
          <a:prstGeom prst="roundRect">
            <a:avLst>
              <a:gd name="adj" fmla="val 19512"/>
            </a:avLst>
          </a:prstGeom>
          <a:solidFill>
            <a:srgbClr val="E7F0FA"/>
          </a:solidFill>
          <a:ln w="9525">
            <a:solidFill>
              <a:srgbClr val="0B4B8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23266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23266"/>
                </a:solidFill>
                <a:latin typeface="Consolas"/>
                <a:ea typeface="Consolas"/>
                <a:cs typeface="Consolas"/>
              </a:rPr>
              <a:t>Gemm   →   Relu   →   Gemm   →   Softmax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E226B2-4A91-4A6A-A567-D89DA99B8493}"/>
              </a:ext>
            </a:extLst>
          </p:cNvPr>
          <p:cNvSpPr>
            <a:spLocks noGrp="1"/>
          </p:cNvSpPr>
          <p:nvPr/>
        </p:nvSpPr>
        <p:spPr>
          <a:xfrm>
            <a:off x="3429000" y="32766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ModelForge IR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21D4FEF-12C7-4A8F-BF0D-AE20F0F56FA4}"/>
              </a:ext>
            </a:extLst>
          </p:cNvPr>
          <p:cNvSpPr>
            <a:spLocks noGrp="1"/>
          </p:cNvSpPr>
          <p:nvPr/>
        </p:nvSpPr>
        <p:spPr>
          <a:xfrm>
            <a:off x="3429000" y="3676650"/>
            <a:ext cx="3238500" cy="1066800"/>
          </a:xfrm>
          <a:prstGeom prst="roundRect">
            <a:avLst>
              <a:gd name="adj" fmla="val 14286"/>
            </a:avLst>
          </a:prstGeom>
          <a:solidFill>
            <a:srgbClr val="E6F4F8"/>
          </a:solidFill>
          <a:ln w="9525">
            <a:solidFill>
              <a:srgbClr val="087FAE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23266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23266"/>
                </a:solidFill>
                <a:latin typeface="Consolas"/>
                <a:ea typeface="Consolas"/>
                <a:cs typeface="Consolas"/>
              </a:rPr>
              <a:t>DENSE</a:t>
            </a:r>
          </a:p>
          <a:p>
            <a:pPr algn="ctr">
              <a:lnSpc>
                <a:spcPct val="105000"/>
              </a:lnSpc>
              <a:buNone/>
              <a:defRPr sz="1350" b="1">
                <a:solidFill>
                  <a:srgbClr val="123266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23266"/>
                </a:solidFill>
                <a:latin typeface="Consolas"/>
                <a:ea typeface="Consolas"/>
                <a:cs typeface="Consolas"/>
              </a:rPr>
              <a:t>FUSED_GEMM_RELU</a:t>
            </a:r>
          </a:p>
          <a:p>
            <a:pPr algn="ctr">
              <a:lnSpc>
                <a:spcPct val="105000"/>
              </a:lnSpc>
              <a:buNone/>
              <a:defRPr sz="1350" b="1">
                <a:solidFill>
                  <a:srgbClr val="123266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23266"/>
                </a:solidFill>
                <a:latin typeface="Consolas"/>
                <a:ea typeface="Consolas"/>
                <a:cs typeface="Consolas"/>
              </a:rPr>
              <a:t>DENSE   →   SOFTMAX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03021A-931E-41D9-A3A4-CCA615085CCD}"/>
              </a:ext>
            </a:extLst>
          </p:cNvPr>
          <p:cNvSpPr>
            <a:spLocks noGrp="1"/>
          </p:cNvSpPr>
          <p:nvPr/>
        </p:nvSpPr>
        <p:spPr>
          <a:xfrm>
            <a:off x="7715250" y="1638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Generated target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C9CC46C-30F0-49B6-883C-0C5D16B6188A}"/>
              </a:ext>
            </a:extLst>
          </p:cNvPr>
          <p:cNvSpPr>
            <a:spLocks noGrp="1"/>
          </p:cNvSpPr>
          <p:nvPr/>
        </p:nvSpPr>
        <p:spPr>
          <a:xfrm>
            <a:off x="7715250" y="2038350"/>
            <a:ext cx="3333750" cy="2705100"/>
          </a:xfrm>
          <a:prstGeom prst="roundRect">
            <a:avLst>
              <a:gd name="adj" fmla="val 5634"/>
            </a:avLst>
          </a:prstGeom>
          <a:solidFill>
            <a:srgbClr val="082A6B"/>
          </a:solidFill>
          <a:ln w="9525">
            <a:solidFill>
              <a:srgbClr val="082A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9FFEA0-0345-4381-AF1F-505F577ED2AA}"/>
              </a:ext>
            </a:extLst>
          </p:cNvPr>
          <p:cNvSpPr>
            <a:spLocks noGrp="1"/>
          </p:cNvSpPr>
          <p:nvPr/>
        </p:nvSpPr>
        <p:spPr>
          <a:xfrm>
            <a:off x="8020050" y="2381250"/>
            <a:ext cx="2762250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rPr>
              <a:t>std::vector&lt;float&gt; infer(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rPr>
              <a:t>  const std::vector&lt;float&gt;&amp; input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rPr>
              <a:t>  Tensor hidden = fused_gemm_relu(...);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rPr>
              <a:t>  Tensor scores = gemm(...);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rPr>
              <a:t>  return softmax(scores);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3F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6ED6467A-5D22-4677-99E0-0EF98E62832B}"/>
              </a:ext>
            </a:extLst>
          </p:cNvPr>
          <p:cNvSpPr>
            <a:spLocks noGrp="1"/>
          </p:cNvSpPr>
          <p:nvPr/>
        </p:nvSpPr>
        <p:spPr>
          <a:xfrm>
            <a:off x="6438900" y="2819400"/>
            <a:ext cx="0" cy="781050"/>
          </a:xfrm>
          <a:prstGeom prst="line">
            <a:avLst/>
          </a:prstGeom>
          <a:noFill/>
          <a:ln w="28575">
            <a:solidFill>
              <a:srgbClr val="087FAE"/>
            </a:solidFill>
            <a:prstDash val="solid"/>
          </a:ln>
        </p:spPr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7ADB29E1-B27D-42ED-B4AC-64F0A796AA24}"/>
              </a:ext>
            </a:extLst>
          </p:cNvPr>
          <p:cNvSpPr>
            <a:spLocks noGrp="1"/>
          </p:cNvSpPr>
          <p:nvPr/>
        </p:nvSpPr>
        <p:spPr>
          <a:xfrm>
            <a:off x="6334125" y="3486150"/>
            <a:ext cx="209550" cy="209550"/>
          </a:xfrm>
          <a:prstGeom prst="downArrow">
            <a:avLst/>
          </a:prstGeom>
          <a:solidFill>
            <a:srgbClr val="087FAE"/>
          </a:solidFill>
          <a:ln w="0">
            <a:solidFill>
              <a:srgbClr val="087FAE"/>
            </a:solidFill>
            <a:prstDash val="solid"/>
          </a:ln>
        </p:spPr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C21FA0AB-7D8B-45F0-BB42-A8F1E4F767CD}"/>
              </a:ext>
            </a:extLst>
          </p:cNvPr>
          <p:cNvSpPr>
            <a:spLocks noGrp="1"/>
          </p:cNvSpPr>
          <p:nvPr/>
        </p:nvSpPr>
        <p:spPr>
          <a:xfrm>
            <a:off x="6686550" y="4095750"/>
            <a:ext cx="971550" cy="228600"/>
          </a:xfrm>
          <a:prstGeom prst="rightArrow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B76649-AEFF-43DE-99D3-52A8299F4C14}"/>
              </a:ext>
            </a:extLst>
          </p:cNvPr>
          <p:cNvSpPr>
            <a:spLocks noGrp="1"/>
          </p:cNvSpPr>
          <p:nvPr/>
        </p:nvSpPr>
        <p:spPr>
          <a:xfrm>
            <a:off x="3429000" y="5219700"/>
            <a:ext cx="762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The IR is the translator: validation can reason about it, and code generation can consume it.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9249E6-7F7A-4E28-A567-C33FF0609B37}"/>
              </a:ext>
            </a:extLst>
          </p:cNvPr>
          <p:cNvSpPr>
            <a:spLocks noGrp="1"/>
          </p:cNvSpPr>
          <p:nvPr/>
        </p:nvSpPr>
        <p:spPr>
          <a:xfrm>
            <a:off x="3429000" y="57912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 i="1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7B8189"/>
                </a:solidFill>
                <a:latin typeface="Arial"/>
                <a:ea typeface="Arial"/>
                <a:cs typeface="Arial"/>
              </a:rPr>
              <a:t>This separation is what lets the back end stay independent of ONNX-specific details.</a:t>
            </a:r>
          </a:p>
        </p:txBody>
      </p:sp>
    </p:spTree>
    <p:extLst>
      <p:ext uri="{BB962C8B-B14F-4D97-AF65-F5344CB8AC3E}">
        <p14:creationId xmlns:p14="http://schemas.microsoft.com/office/powerpoint/2010/main" val="119316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heme-frame">
            <a:extLst>
              <a:ext uri="{FF2B5EF4-FFF2-40B4-BE49-F238E27FC236}">
                <a16:creationId xmlns:a16="http://schemas.microsoft.com/office/drawing/2014/main" id="{8CC2830E-E756-4D78-8C65-B54C98D8943A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11849100" cy="6515100"/>
          </a:xfrm>
          <a:prstGeom prst="rect">
            <a:avLst/>
          </a:prstGeom>
          <a:noFill/>
          <a:ln w="9525">
            <a:solidFill>
              <a:srgbClr val="B9BEC6"/>
            </a:solidFill>
            <a:prstDash val="solid"/>
          </a:ln>
        </p:spPr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57A52057-05A7-44DA-AB3E-B9716FE5CA13}"/>
              </a:ext>
            </a:extLst>
          </p:cNvPr>
          <p:cNvSpPr>
            <a:spLocks noGrp="1"/>
          </p:cNvSpPr>
          <p:nvPr/>
        </p:nvSpPr>
        <p:spPr>
          <a:xfrm>
            <a:off x="1905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AEFE7B5C-E107-4B8B-89B3-A273B381DD56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C025E096-6DB5-41EF-8DB7-C2930BB80842}"/>
              </a:ext>
            </a:extLst>
          </p:cNvPr>
          <p:cNvSpPr>
            <a:spLocks noGrp="1"/>
          </p:cNvSpPr>
          <p:nvPr/>
        </p:nvSpPr>
        <p:spPr>
          <a:xfrm rot="10800000">
            <a:off x="1905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B67E281-BD7E-47DA-B852-63F3358A4EE9}"/>
              </a:ext>
            </a:extLst>
          </p:cNvPr>
          <p:cNvSpPr>
            <a:spLocks noGrp="1"/>
          </p:cNvSpPr>
          <p:nvPr/>
        </p:nvSpPr>
        <p:spPr>
          <a:xfrm rot="10800000">
            <a:off x="4953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21341BA-CFD7-45AD-8992-846A56C7A8C4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BA1956E4-70DF-4ACC-AD97-505D05D39530}"/>
              </a:ext>
            </a:extLst>
          </p:cNvPr>
          <p:cNvSpPr>
            <a:spLocks noGrp="1"/>
          </p:cNvSpPr>
          <p:nvPr/>
        </p:nvSpPr>
        <p:spPr>
          <a:xfrm rot="10800000">
            <a:off x="113538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3AC643D-28D0-4E58-A507-3404B00A125C}"/>
              </a:ext>
            </a:extLst>
          </p:cNvPr>
          <p:cNvSpPr>
            <a:spLocks noGrp="1"/>
          </p:cNvSpPr>
          <p:nvPr/>
        </p:nvSpPr>
        <p:spPr>
          <a:xfrm rot="10800000">
            <a:off x="116586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2F2CCB9-E429-4CF2-B1E7-10DA097A3E23}"/>
              </a:ext>
            </a:extLst>
          </p:cNvPr>
          <p:cNvSpPr>
            <a:spLocks noGrp="1"/>
          </p:cNvSpPr>
          <p:nvPr/>
        </p:nvSpPr>
        <p:spPr>
          <a:xfrm>
            <a:off x="113538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59CAD95-C7DE-45BC-BEC8-A467150D8815}"/>
              </a:ext>
            </a:extLst>
          </p:cNvPr>
          <p:cNvSpPr>
            <a:spLocks noGrp="1"/>
          </p:cNvSpPr>
          <p:nvPr/>
        </p:nvSpPr>
        <p:spPr>
          <a:xfrm>
            <a:off x="116586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29D0F974-8CFF-4AEF-8297-5F58983D6F1F}"/>
              </a:ext>
            </a:extLst>
          </p:cNvPr>
          <p:cNvSpPr>
            <a:spLocks noGrp="1"/>
          </p:cNvSpPr>
          <p:nvPr/>
        </p:nvSpPr>
        <p:spPr>
          <a:xfrm>
            <a:off x="11353800" y="60293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5146E69-9F2A-494C-9A1F-B888A827EC45}"/>
              </a:ext>
            </a:extLst>
          </p:cNvPr>
          <p:cNvSpPr>
            <a:spLocks noGrp="1"/>
          </p:cNvSpPr>
          <p:nvPr/>
        </p:nvSpPr>
        <p:spPr>
          <a:xfrm>
            <a:off x="11658600" y="60293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09DE099-D5CC-4272-B2F7-3383CAB5E05C}"/>
              </a:ext>
            </a:extLst>
          </p:cNvPr>
          <p:cNvSpPr>
            <a:spLocks noGrp="1"/>
          </p:cNvSpPr>
          <p:nvPr/>
        </p:nvSpPr>
        <p:spPr>
          <a:xfrm rot="10800000">
            <a:off x="11353800" y="63246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6FA5EB0-F850-4B40-A8B3-7C5066689489}"/>
              </a:ext>
            </a:extLst>
          </p:cNvPr>
          <p:cNvSpPr>
            <a:spLocks noGrp="1"/>
          </p:cNvSpPr>
          <p:nvPr/>
        </p:nvSpPr>
        <p:spPr>
          <a:xfrm rot="10800000">
            <a:off x="11658600" y="63246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0C518-D13F-4076-9730-BC46BFF94FE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32385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D1593-922F-4730-B9D7-219976A2696D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THE PART THAT FEELS MOST LIKE A COMPILER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A3FFBB-9C07-47C1-A6AD-5BC9A9649539}"/>
              </a:ext>
            </a:extLst>
          </p:cNvPr>
          <p:cNvSpPr>
            <a:spLocks noGrp="1"/>
          </p:cNvSpPr>
          <p:nvPr/>
        </p:nvSpPr>
        <p:spPr>
          <a:xfrm>
            <a:off x="933450" y="9906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Optimization changes the IR before the C++ is written.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9A2EC4-07DF-450D-A3AF-BAEFF4E4BAD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endParaRPr sz="975" b="0" i="0" dirty="0">
              <a:solidFill>
                <a:srgbClr val="7B8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C88D5A-AC9D-46B8-AEAE-C02879639150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708E6B-787C-4EA0-91DF-212CA1A6C9F0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1428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6600" b="1" i="0">
                <a:solidFill>
                  <a:srgbClr val="0B4B8F"/>
                </a:solidFill>
                <a:latin typeface="Arial"/>
                <a:ea typeface="Arial"/>
                <a:cs typeface="Arial"/>
              </a:defRPr>
            </a:pPr>
            <a:r>
              <a:rPr sz="6600" b="1" i="0">
                <a:solidFill>
                  <a:srgbClr val="0B4B8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1936B1-A464-48AC-9DD0-5DF07D0ABFA9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IR instructions</a:t>
            </a:r>
          </a:p>
          <a:p>
            <a:pPr algn="ctr">
              <a:lnSpc>
                <a:spcPct val="100000"/>
              </a:lnSpc>
              <a:buNone/>
              <a:defRPr sz="135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C8D25290-3C51-441F-8E45-00F841FBFA0A}"/>
              </a:ext>
            </a:extLst>
          </p:cNvPr>
          <p:cNvSpPr>
            <a:spLocks noGrp="1"/>
          </p:cNvSpPr>
          <p:nvPr/>
        </p:nvSpPr>
        <p:spPr>
          <a:xfrm>
            <a:off x="2381250" y="2343150"/>
            <a:ext cx="1485900" cy="0"/>
          </a:xfrm>
          <a:prstGeom prst="line">
            <a:avLst/>
          </a:prstGeom>
          <a:noFill/>
          <a:ln w="38100">
            <a:solidFill>
              <a:srgbClr val="00B5D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225B92-C906-4CAF-ACF7-2AC84DFC321D}"/>
              </a:ext>
            </a:extLst>
          </p:cNvPr>
          <p:cNvSpPr>
            <a:spLocks noGrp="1"/>
          </p:cNvSpPr>
          <p:nvPr/>
        </p:nvSpPr>
        <p:spPr>
          <a:xfrm>
            <a:off x="2647950" y="1962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00B5D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B5D2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982547-9D59-4117-9B48-4BD6290CF5D1}"/>
              </a:ext>
            </a:extLst>
          </p:cNvPr>
          <p:cNvSpPr>
            <a:spLocks noGrp="1"/>
          </p:cNvSpPr>
          <p:nvPr/>
        </p:nvSpPr>
        <p:spPr>
          <a:xfrm>
            <a:off x="3924300" y="1752600"/>
            <a:ext cx="1428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6600" b="1" i="0">
                <a:solidFill>
                  <a:srgbClr val="00C7C7"/>
                </a:solidFill>
                <a:latin typeface="Arial"/>
                <a:ea typeface="Arial"/>
                <a:cs typeface="Arial"/>
              </a:defRPr>
            </a:pPr>
            <a:r>
              <a:rPr sz="6600" b="1" i="0">
                <a:solidFill>
                  <a:srgbClr val="00C7C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E2DB21-DB5A-47AE-B20D-97903F7955AE}"/>
              </a:ext>
            </a:extLst>
          </p:cNvPr>
          <p:cNvSpPr>
            <a:spLocks noGrp="1"/>
          </p:cNvSpPr>
          <p:nvPr/>
        </p:nvSpPr>
        <p:spPr>
          <a:xfrm>
            <a:off x="3924300" y="29527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IR instructions</a:t>
            </a:r>
          </a:p>
          <a:p>
            <a:pPr algn="ctr">
              <a:lnSpc>
                <a:spcPct val="100000"/>
              </a:lnSpc>
              <a:buNone/>
              <a:defRPr sz="1350" b="1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37C917-063F-4AC7-A8CC-A08DA7C2EEB8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4476750" cy="19050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E5C2F9-90A7-47E0-94EF-0E79343C2391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75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The demo removes one unreachable instruction and fuses one dense layer with its ReLU.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A6F2F21-D748-4807-8279-602500F3238A}"/>
              </a:ext>
            </a:extLst>
          </p:cNvPr>
          <p:cNvSpPr>
            <a:spLocks noGrp="1"/>
          </p:cNvSpPr>
          <p:nvPr/>
        </p:nvSpPr>
        <p:spPr>
          <a:xfrm>
            <a:off x="6381750" y="1771650"/>
            <a:ext cx="381000" cy="381000"/>
          </a:xfrm>
          <a:prstGeom prst="ellipse">
            <a:avLst/>
          </a:prstGeom>
          <a:solidFill>
            <a:srgbClr val="0B4B8F"/>
          </a:solidFill>
          <a:ln w="0">
            <a:solidFill>
              <a:srgbClr val="0B4B8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0CEB48-6637-4B22-B243-31FDCD912BF0}"/>
              </a:ext>
            </a:extLst>
          </p:cNvPr>
          <p:cNvSpPr>
            <a:spLocks noGrp="1"/>
          </p:cNvSpPr>
          <p:nvPr/>
        </p:nvSpPr>
        <p:spPr>
          <a:xfrm>
            <a:off x="6953250" y="175260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Dead-node removal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6B2E69-F5E1-40E0-A8A7-FDF3D96104B5}"/>
              </a:ext>
            </a:extLst>
          </p:cNvPr>
          <p:cNvSpPr>
            <a:spLocks noGrp="1"/>
          </p:cNvSpPr>
          <p:nvPr/>
        </p:nvSpPr>
        <p:spPr>
          <a:xfrm>
            <a:off x="6953250" y="2076450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Drops the unused activation in the demo.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C29314-F449-4536-9BBC-0C56C48F68AE}"/>
              </a:ext>
            </a:extLst>
          </p:cNvPr>
          <p:cNvSpPr>
            <a:spLocks noGrp="1"/>
          </p:cNvSpPr>
          <p:nvPr/>
        </p:nvSpPr>
        <p:spPr>
          <a:xfrm>
            <a:off x="6953250" y="2647950"/>
            <a:ext cx="4191000" cy="9525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E12AB0B-A027-4402-B07E-2625442B6607}"/>
              </a:ext>
            </a:extLst>
          </p:cNvPr>
          <p:cNvSpPr>
            <a:spLocks noGrp="1"/>
          </p:cNvSpPr>
          <p:nvPr/>
        </p:nvSpPr>
        <p:spPr>
          <a:xfrm>
            <a:off x="6381750" y="2838450"/>
            <a:ext cx="381000" cy="381000"/>
          </a:xfrm>
          <a:prstGeom prst="ellips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BB6AE1-E70D-43E2-810C-18BE4FAEDD78}"/>
              </a:ext>
            </a:extLst>
          </p:cNvPr>
          <p:cNvSpPr>
            <a:spLocks noGrp="1"/>
          </p:cNvSpPr>
          <p:nvPr/>
        </p:nvSpPr>
        <p:spPr>
          <a:xfrm>
            <a:off x="6953250" y="281940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GEMM + ReLU fusion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C567B6-CE60-4343-A681-E5EFC152E240}"/>
              </a:ext>
            </a:extLst>
          </p:cNvPr>
          <p:cNvSpPr>
            <a:spLocks noGrp="1"/>
          </p:cNvSpPr>
          <p:nvPr/>
        </p:nvSpPr>
        <p:spPr>
          <a:xfrm>
            <a:off x="6953250" y="3143250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Keeps the activation inside one generated loop.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6D5213-7E1C-4E35-8180-EF8820A9E902}"/>
              </a:ext>
            </a:extLst>
          </p:cNvPr>
          <p:cNvSpPr>
            <a:spLocks noGrp="1"/>
          </p:cNvSpPr>
          <p:nvPr/>
        </p:nvSpPr>
        <p:spPr>
          <a:xfrm>
            <a:off x="6953250" y="3714750"/>
            <a:ext cx="4191000" cy="9525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30B997C-24F9-484D-BD7F-92820FE9E771}"/>
              </a:ext>
            </a:extLst>
          </p:cNvPr>
          <p:cNvSpPr>
            <a:spLocks noGrp="1"/>
          </p:cNvSpPr>
          <p:nvPr/>
        </p:nvSpPr>
        <p:spPr>
          <a:xfrm>
            <a:off x="6381750" y="3905250"/>
            <a:ext cx="381000" cy="381000"/>
          </a:xfrm>
          <a:prstGeom prst="ellipse">
            <a:avLst/>
          </a:prstGeom>
          <a:solidFill>
            <a:srgbClr val="087FAE"/>
          </a:solidFill>
          <a:ln w="0">
            <a:solidFill>
              <a:srgbClr val="087F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E26050-1E01-426B-AC3F-0B3878BA775E}"/>
              </a:ext>
            </a:extLst>
          </p:cNvPr>
          <p:cNvSpPr>
            <a:spLocks noGrp="1"/>
          </p:cNvSpPr>
          <p:nvPr/>
        </p:nvSpPr>
        <p:spPr>
          <a:xfrm>
            <a:off x="6953250" y="388620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Constant folding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08A194-414C-494A-B7F3-0DC39A35B96B}"/>
              </a:ext>
            </a:extLst>
          </p:cNvPr>
          <p:cNvSpPr>
            <a:spLocks noGrp="1"/>
          </p:cNvSpPr>
          <p:nvPr/>
        </p:nvSpPr>
        <p:spPr>
          <a:xfrm>
            <a:off x="6953250" y="4210050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Available for constant-only work before runtime.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210E3C-BF9F-4700-861C-C729E5FCF6A9}"/>
              </a:ext>
            </a:extLst>
          </p:cNvPr>
          <p:cNvSpPr>
            <a:spLocks noGrp="1"/>
          </p:cNvSpPr>
          <p:nvPr/>
        </p:nvSpPr>
        <p:spPr>
          <a:xfrm>
            <a:off x="6953250" y="4781550"/>
            <a:ext cx="4191000" cy="9525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2E15DB1-930F-46AE-B6CE-018A31785A6D}"/>
              </a:ext>
            </a:extLst>
          </p:cNvPr>
          <p:cNvSpPr>
            <a:spLocks noGrp="1"/>
          </p:cNvSpPr>
          <p:nvPr/>
        </p:nvSpPr>
        <p:spPr>
          <a:xfrm>
            <a:off x="6381750" y="5143500"/>
            <a:ext cx="4762500" cy="876300"/>
          </a:xfrm>
          <a:prstGeom prst="roundRect">
            <a:avLst>
              <a:gd name="adj" fmla="val 17391"/>
            </a:avLst>
          </a:prstGeom>
          <a:solidFill>
            <a:srgbClr val="E5F8FB"/>
          </a:solidFill>
          <a:ln w="9525">
            <a:solidFill>
              <a:srgbClr val="00B5D2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66"/>
                </a:solidFill>
                <a:latin typeface="Arial"/>
                <a:ea typeface="Arial"/>
                <a:cs typeface="Arial"/>
              </a:rPr>
              <a:t>Novelty</a:t>
            </a:r>
          </a:p>
          <a:p>
            <a:pPr algn="ctr">
              <a:lnSpc>
                <a:spcPct val="105000"/>
              </a:lnSpc>
              <a:buNone/>
              <a:defRPr sz="1425" b="1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66"/>
                </a:solidFill>
                <a:latin typeface="Arial"/>
                <a:ea typeface="Arial"/>
                <a:cs typeface="Arial"/>
              </a:rPr>
              <a:t>Compiler ideas applied to a tiny ML graph where the transformation stays readable.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E03431-42A1-4F18-ABB1-9DEA76A06E05}"/>
              </a:ext>
            </a:extLst>
          </p:cNvPr>
          <p:cNvSpPr>
            <a:spLocks noGrp="1"/>
          </p:cNvSpPr>
          <p:nvPr/>
        </p:nvSpPr>
        <p:spPr>
          <a:xfrm>
            <a:off x="876300" y="50673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87FA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FAE"/>
                </a:solidFill>
                <a:latin typeface="Arial"/>
                <a:ea typeface="Arial"/>
                <a:cs typeface="Arial"/>
              </a:rPr>
              <a:t>Net effect: less work to generate, same prediction to preserve.</a:t>
            </a:r>
          </a:p>
        </p:txBody>
      </p:sp>
    </p:spTree>
    <p:extLst>
      <p:ext uri="{BB962C8B-B14F-4D97-AF65-F5344CB8AC3E}">
        <p14:creationId xmlns:p14="http://schemas.microsoft.com/office/powerpoint/2010/main" val="1489832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heme-frame">
            <a:extLst>
              <a:ext uri="{FF2B5EF4-FFF2-40B4-BE49-F238E27FC236}">
                <a16:creationId xmlns:a16="http://schemas.microsoft.com/office/drawing/2014/main" id="{64D16C14-2CB8-47A0-97C7-59649C9FEB69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11849100" cy="6515100"/>
          </a:xfrm>
          <a:prstGeom prst="rect">
            <a:avLst/>
          </a:prstGeom>
          <a:noFill/>
          <a:ln w="9525">
            <a:solidFill>
              <a:srgbClr val="B9BEC6"/>
            </a:solidFill>
            <a:prstDash val="solid"/>
          </a:ln>
        </p:spPr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E19463AF-2AEA-46CD-81DB-E5859BE7CCC0}"/>
              </a:ext>
            </a:extLst>
          </p:cNvPr>
          <p:cNvSpPr>
            <a:spLocks noGrp="1"/>
          </p:cNvSpPr>
          <p:nvPr/>
        </p:nvSpPr>
        <p:spPr>
          <a:xfrm>
            <a:off x="1905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AD36C0B3-6540-4E66-86A5-FD70F57DCF4D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9AC5D85-12E3-47D4-8E01-E7FAEFCC20A9}"/>
              </a:ext>
            </a:extLst>
          </p:cNvPr>
          <p:cNvSpPr>
            <a:spLocks noGrp="1"/>
          </p:cNvSpPr>
          <p:nvPr/>
        </p:nvSpPr>
        <p:spPr>
          <a:xfrm rot="10800000">
            <a:off x="1905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B711EF8-94C1-4C27-A46A-F0556130D842}"/>
              </a:ext>
            </a:extLst>
          </p:cNvPr>
          <p:cNvSpPr>
            <a:spLocks noGrp="1"/>
          </p:cNvSpPr>
          <p:nvPr/>
        </p:nvSpPr>
        <p:spPr>
          <a:xfrm rot="10800000">
            <a:off x="4953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C6B0E845-26B3-4DCA-AFFD-E7EF8D6EB904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B89F1A18-7EBA-4368-B033-7482AC7FC2A1}"/>
              </a:ext>
            </a:extLst>
          </p:cNvPr>
          <p:cNvSpPr>
            <a:spLocks noGrp="1"/>
          </p:cNvSpPr>
          <p:nvPr/>
        </p:nvSpPr>
        <p:spPr>
          <a:xfrm rot="10800000">
            <a:off x="113538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F595118-4CA8-4F5C-B130-7515F7D99905}"/>
              </a:ext>
            </a:extLst>
          </p:cNvPr>
          <p:cNvSpPr>
            <a:spLocks noGrp="1"/>
          </p:cNvSpPr>
          <p:nvPr/>
        </p:nvSpPr>
        <p:spPr>
          <a:xfrm rot="10800000">
            <a:off x="116586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25683E1-2990-4508-BC5B-431E2BBEF2A4}"/>
              </a:ext>
            </a:extLst>
          </p:cNvPr>
          <p:cNvSpPr>
            <a:spLocks noGrp="1"/>
          </p:cNvSpPr>
          <p:nvPr/>
        </p:nvSpPr>
        <p:spPr>
          <a:xfrm>
            <a:off x="113538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E253FF-B0C2-48B8-B327-65A93790740D}"/>
              </a:ext>
            </a:extLst>
          </p:cNvPr>
          <p:cNvSpPr>
            <a:spLocks noGrp="1"/>
          </p:cNvSpPr>
          <p:nvPr/>
        </p:nvSpPr>
        <p:spPr>
          <a:xfrm>
            <a:off x="116586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6A7AFE7-80E0-4E27-83A2-F0AE8C5C5262}"/>
              </a:ext>
            </a:extLst>
          </p:cNvPr>
          <p:cNvSpPr>
            <a:spLocks noGrp="1"/>
          </p:cNvSpPr>
          <p:nvPr/>
        </p:nvSpPr>
        <p:spPr>
          <a:xfrm>
            <a:off x="11353800" y="60293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4ADAE0D-6FDD-4E4C-BC5A-95A834AA95D3}"/>
              </a:ext>
            </a:extLst>
          </p:cNvPr>
          <p:cNvSpPr>
            <a:spLocks noGrp="1"/>
          </p:cNvSpPr>
          <p:nvPr/>
        </p:nvSpPr>
        <p:spPr>
          <a:xfrm>
            <a:off x="11658600" y="60293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B50EBA0-B8A3-44FA-97A0-43828B6F790F}"/>
              </a:ext>
            </a:extLst>
          </p:cNvPr>
          <p:cNvSpPr>
            <a:spLocks noGrp="1"/>
          </p:cNvSpPr>
          <p:nvPr/>
        </p:nvSpPr>
        <p:spPr>
          <a:xfrm rot="10800000">
            <a:off x="11353800" y="63246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1DABAC4-AAB5-4F49-B3AE-BDD02588F48B}"/>
              </a:ext>
            </a:extLst>
          </p:cNvPr>
          <p:cNvSpPr>
            <a:spLocks noGrp="1"/>
          </p:cNvSpPr>
          <p:nvPr/>
        </p:nvSpPr>
        <p:spPr>
          <a:xfrm rot="10800000">
            <a:off x="11658600" y="63246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C03E58-29F0-4780-9887-03F84EB2CC8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32385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DBD74-2014-47C7-83C1-F3BAA9C3FBDD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THE ACTUAL GENERATED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8F7165-A20A-4A0F-BE0F-AB2239554517}"/>
              </a:ext>
            </a:extLst>
          </p:cNvPr>
          <p:cNvSpPr>
            <a:spLocks noGrp="1"/>
          </p:cNvSpPr>
          <p:nvPr/>
        </p:nvSpPr>
        <p:spPr>
          <a:xfrm>
            <a:off x="933450" y="9906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This is the output from the built generated_model.exe, using the Iris demo model.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A4A20-06D2-429B-A8F3-8CABCB3DC26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ModelForge  |  Compiler Design Laboratory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E5C48-8B0A-40C6-A051-4B87FD57ED7A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583531"/>
            <a:ext cx="7239000" cy="4071938"/>
          </a:xfrm>
          <a:prstGeom prst="roundRect">
            <a:avLst>
              <a:gd name="adj" fmla="val 3738"/>
            </a:avLst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793C051-C8ED-44FA-A30C-14DC91F151FA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What we actually got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7BA221-3EB9-49D1-B624-CE336D2C4F8C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2762250" cy="38100"/>
          </a:xfrm>
          <a:prstGeom prst="rect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81D5E8-E676-40DA-B1BC-D7A377EBA83C}"/>
              </a:ext>
            </a:extLst>
          </p:cNvPr>
          <p:cNvSpPr>
            <a:spLocks noGrp="1"/>
          </p:cNvSpPr>
          <p:nvPr/>
        </p:nvSpPr>
        <p:spPr>
          <a:xfrm>
            <a:off x="8382000" y="25527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2A5A14-51B4-4C9B-9431-FD460E4EA1F4}"/>
              </a:ext>
            </a:extLst>
          </p:cNvPr>
          <p:cNvSpPr>
            <a:spLocks noGrp="1"/>
          </p:cNvSpPr>
          <p:nvPr/>
        </p:nvSpPr>
        <p:spPr>
          <a:xfrm>
            <a:off x="8382000" y="28765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9007A2-7358-4E16-9AD5-88F97E6BC235}"/>
              </a:ext>
            </a:extLst>
          </p:cNvPr>
          <p:cNvSpPr>
            <a:spLocks noGrp="1"/>
          </p:cNvSpPr>
          <p:nvPr/>
        </p:nvSpPr>
        <p:spPr>
          <a:xfrm>
            <a:off x="8382000" y="31242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the generated program's class index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ED59EE-B1AB-4632-8E75-EE7DBFECC3DD}"/>
              </a:ext>
            </a:extLst>
          </p:cNvPr>
          <p:cNvSpPr>
            <a:spLocks noGrp="1"/>
          </p:cNvSpPr>
          <p:nvPr/>
        </p:nvSpPr>
        <p:spPr>
          <a:xfrm>
            <a:off x="8382000" y="35433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C7C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C7C7"/>
                </a:solidFill>
                <a:latin typeface="Arial"/>
                <a:ea typeface="Arial"/>
                <a:cs typeface="Arial"/>
              </a:rPr>
              <a:t>0.452578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4D43B6-452E-44F1-9295-9F941E830E41}"/>
              </a:ext>
            </a:extLst>
          </p:cNvPr>
          <p:cNvSpPr>
            <a:spLocks noGrp="1"/>
          </p:cNvSpPr>
          <p:nvPr/>
        </p:nvSpPr>
        <p:spPr>
          <a:xfrm>
            <a:off x="8382000" y="38671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A29348-72B4-40DA-9DAB-BAEE98E4EF05}"/>
              </a:ext>
            </a:extLst>
          </p:cNvPr>
          <p:cNvSpPr>
            <a:spLocks noGrp="1"/>
          </p:cNvSpPr>
          <p:nvPr/>
        </p:nvSpPr>
        <p:spPr>
          <a:xfrm>
            <a:off x="8382000" y="41148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the value printed by the executable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F6C576-542C-4690-BCEA-63CCF27519EB}"/>
              </a:ext>
            </a:extLst>
          </p:cNvPr>
          <p:cNvSpPr>
            <a:spLocks noGrp="1"/>
          </p:cNvSpPr>
          <p:nvPr/>
        </p:nvSpPr>
        <p:spPr>
          <a:xfrm>
            <a:off x="8382000" y="45339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0B4B8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4B8F"/>
                </a:solidFill>
                <a:latin typeface="Consolas"/>
                <a:ea typeface="Consolas"/>
                <a:cs typeface="Consolas"/>
              </a:rPr>
              <a:t>1 / 1 passed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137158-6D7A-449F-89AA-7F1F89F5E3F0}"/>
              </a:ext>
            </a:extLst>
          </p:cNvPr>
          <p:cNvSpPr>
            <a:spLocks noGrp="1"/>
          </p:cNvSpPr>
          <p:nvPr/>
        </p:nvSpPr>
        <p:spPr>
          <a:xfrm>
            <a:off x="8382000" y="48577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232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266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F8D4C2-0832-4FDB-9856-1FCE23F7B11F}"/>
              </a:ext>
            </a:extLst>
          </p:cNvPr>
          <p:cNvSpPr>
            <a:spLocks noGrp="1"/>
          </p:cNvSpPr>
          <p:nvPr/>
        </p:nvSpPr>
        <p:spPr>
          <a:xfrm>
            <a:off x="8382000" y="51054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CTest validation result in this build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92FF5DE-E503-450A-9E97-3ECEBE286F6E}"/>
              </a:ext>
            </a:extLst>
          </p:cNvPr>
          <p:cNvSpPr>
            <a:spLocks noGrp="1"/>
          </p:cNvSpPr>
          <p:nvPr/>
        </p:nvSpPr>
        <p:spPr>
          <a:xfrm>
            <a:off x="8382000" y="5562600"/>
            <a:ext cx="1676400" cy="266700"/>
          </a:xfrm>
          <a:prstGeom prst="roundRect">
            <a:avLst>
              <a:gd name="adj" fmla="val 50000"/>
            </a:avLst>
          </a:prstGeom>
          <a:solidFill>
            <a:srgbClr val="00C7C7"/>
          </a:solidFill>
          <a:ln w="9525">
            <a:solidFill>
              <a:srgbClr val="00C7C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2A6B"/>
                </a:solidFill>
                <a:latin typeface="Arial"/>
                <a:ea typeface="Arial"/>
                <a:cs typeface="Arial"/>
              </a:rPr>
              <a:t>ACTUAL LOCAL RUN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8785A9-CE3C-4A3F-89CD-29423CF3BEA9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050" b="0" i="1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7B8189"/>
                </a:solidFill>
                <a:latin typeface="Arial"/>
                <a:ea typeface="Arial"/>
                <a:cs typeface="Arial"/>
              </a:rPr>
              <a:t>Command: .\build\generated\build\Release\generated_model.exe</a:t>
            </a:r>
          </a:p>
        </p:txBody>
      </p:sp>
    </p:spTree>
    <p:extLst>
      <p:ext uri="{BB962C8B-B14F-4D97-AF65-F5344CB8AC3E}">
        <p14:creationId xmlns:p14="http://schemas.microsoft.com/office/powerpoint/2010/main" val="77328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heme-frame">
            <a:extLst>
              <a:ext uri="{FF2B5EF4-FFF2-40B4-BE49-F238E27FC236}">
                <a16:creationId xmlns:a16="http://schemas.microsoft.com/office/drawing/2014/main" id="{B6F1CB4C-E70B-48DB-82F2-1FE4509417D9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11849100" cy="6515100"/>
          </a:xfrm>
          <a:prstGeom prst="rect">
            <a:avLst/>
          </a:prstGeom>
          <a:noFill/>
          <a:ln w="9525">
            <a:solidFill>
              <a:srgbClr val="B9BEC6"/>
            </a:solidFill>
            <a:prstDash val="solid"/>
          </a:ln>
        </p:spPr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04DCE2DB-34C8-4F34-B36A-34DE56F515AF}"/>
              </a:ext>
            </a:extLst>
          </p:cNvPr>
          <p:cNvSpPr>
            <a:spLocks noGrp="1"/>
          </p:cNvSpPr>
          <p:nvPr/>
        </p:nvSpPr>
        <p:spPr>
          <a:xfrm>
            <a:off x="1905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83AC5EC-9AE4-4E04-B4EE-5ECDC73DF697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286B748-1FD5-479C-A897-4B3314AEFA9D}"/>
              </a:ext>
            </a:extLst>
          </p:cNvPr>
          <p:cNvSpPr>
            <a:spLocks noGrp="1"/>
          </p:cNvSpPr>
          <p:nvPr/>
        </p:nvSpPr>
        <p:spPr>
          <a:xfrm rot="10800000">
            <a:off x="1905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2FCD356-67A3-4C6C-B156-CDF4B9812951}"/>
              </a:ext>
            </a:extLst>
          </p:cNvPr>
          <p:cNvSpPr>
            <a:spLocks noGrp="1"/>
          </p:cNvSpPr>
          <p:nvPr/>
        </p:nvSpPr>
        <p:spPr>
          <a:xfrm rot="10800000">
            <a:off x="4953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822067E-E2D7-42E8-8A6B-1E71F3F04F10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6698A72-0715-4A3D-9EE6-8CEC6EDC48FE}"/>
              </a:ext>
            </a:extLst>
          </p:cNvPr>
          <p:cNvSpPr>
            <a:spLocks noGrp="1"/>
          </p:cNvSpPr>
          <p:nvPr/>
        </p:nvSpPr>
        <p:spPr>
          <a:xfrm rot="10800000">
            <a:off x="11353800" y="2381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67D38F2-A528-4DDF-B3D4-AFF46694567D}"/>
              </a:ext>
            </a:extLst>
          </p:cNvPr>
          <p:cNvSpPr>
            <a:spLocks noGrp="1"/>
          </p:cNvSpPr>
          <p:nvPr/>
        </p:nvSpPr>
        <p:spPr>
          <a:xfrm rot="10800000">
            <a:off x="11658600" y="2381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2B75BFC-AD5E-4A39-803A-A9240EBC595C}"/>
              </a:ext>
            </a:extLst>
          </p:cNvPr>
          <p:cNvSpPr>
            <a:spLocks noGrp="1"/>
          </p:cNvSpPr>
          <p:nvPr/>
        </p:nvSpPr>
        <p:spPr>
          <a:xfrm>
            <a:off x="11353800" y="5334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F9C0077-C0AC-46C4-BCFD-E5A62B1F50C6}"/>
              </a:ext>
            </a:extLst>
          </p:cNvPr>
          <p:cNvSpPr>
            <a:spLocks noGrp="1"/>
          </p:cNvSpPr>
          <p:nvPr/>
        </p:nvSpPr>
        <p:spPr>
          <a:xfrm>
            <a:off x="11658600" y="5334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F3AB4C0-77FD-4127-80B6-F0F903403F84}"/>
              </a:ext>
            </a:extLst>
          </p:cNvPr>
          <p:cNvSpPr>
            <a:spLocks noGrp="1"/>
          </p:cNvSpPr>
          <p:nvPr/>
        </p:nvSpPr>
        <p:spPr>
          <a:xfrm>
            <a:off x="11353800" y="6029325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0BE53A3-55E5-4294-8DF3-DA8953FBC409}"/>
              </a:ext>
            </a:extLst>
          </p:cNvPr>
          <p:cNvSpPr>
            <a:spLocks noGrp="1"/>
          </p:cNvSpPr>
          <p:nvPr/>
        </p:nvSpPr>
        <p:spPr>
          <a:xfrm>
            <a:off x="11658600" y="6029325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69B9859-B219-4CE4-AF24-336EDE109047}"/>
              </a:ext>
            </a:extLst>
          </p:cNvPr>
          <p:cNvSpPr>
            <a:spLocks noGrp="1"/>
          </p:cNvSpPr>
          <p:nvPr/>
        </p:nvSpPr>
        <p:spPr>
          <a:xfrm rot="10800000">
            <a:off x="11353800" y="6324600"/>
            <a:ext cx="342900" cy="342900"/>
          </a:xfrm>
          <a:prstGeom prst="triangle">
            <a:avLst/>
          </a:prstGeom>
          <a:solidFill>
            <a:srgbClr val="082A6B"/>
          </a:solidFill>
          <a:ln w="0">
            <a:solidFill>
              <a:srgbClr val="082A6B"/>
            </a:solidFill>
            <a:prstDash val="solid"/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E1660D6-75E9-4652-84FE-4FAD0CF3087D}"/>
              </a:ext>
            </a:extLst>
          </p:cNvPr>
          <p:cNvSpPr>
            <a:spLocks noGrp="1"/>
          </p:cNvSpPr>
          <p:nvPr/>
        </p:nvSpPr>
        <p:spPr>
          <a:xfrm rot="10800000">
            <a:off x="11658600" y="6324600"/>
            <a:ext cx="342900" cy="342900"/>
          </a:xfrm>
          <a:prstGeom prst="triangle">
            <a:avLst/>
          </a:prstGeom>
          <a:solidFill>
            <a:srgbClr val="00C7C7"/>
          </a:solidFill>
          <a:ln w="0">
            <a:solidFill>
              <a:srgbClr val="00C7C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38A46-1342-47E8-977E-F5DDDED20AC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5725" cy="323850"/>
          </a:xfrm>
          <a:prstGeom prst="rect">
            <a:avLst/>
          </a:prstGeom>
          <a:solidFill>
            <a:srgbClr val="00B5D2"/>
          </a:solidFill>
          <a:ln w="0">
            <a:solidFill>
              <a:srgbClr val="00B5D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B5185F-E023-47D6-BEA9-B8D2EBBEBBD9}"/>
              </a:ext>
            </a:extLst>
          </p:cNvPr>
          <p:cNvSpPr>
            <a:spLocks noGrp="1"/>
          </p:cNvSpPr>
          <p:nvPr/>
        </p:nvSpPr>
        <p:spPr>
          <a:xfrm>
            <a:off x="933450" y="4953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THE ONE-SENTENCE VIVA ANSWER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05714B-CB31-4C94-9334-B22868B8A413}"/>
              </a:ext>
            </a:extLst>
          </p:cNvPr>
          <p:cNvSpPr>
            <a:spLocks noGrp="1"/>
          </p:cNvSpPr>
          <p:nvPr/>
        </p:nvSpPr>
        <p:spPr>
          <a:xfrm>
            <a:off x="933450" y="1600200"/>
            <a:ext cx="9906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ModelForge treats the model like source code: it validates the graph, lowers it to its own IR, optimizes it, generates C++, and checks that the prediction stays the same.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27409F-1524-4B9D-A69B-6F149E451256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9906000" cy="9525"/>
          </a:xfrm>
          <a:prstGeom prst="rect">
            <a:avLst/>
          </a:prstGeom>
          <a:solidFill>
            <a:srgbClr val="C9CED6"/>
          </a:solidFill>
          <a:ln w="0">
            <a:solidFill>
              <a:srgbClr val="C9CED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3200B3-110F-41A9-BE60-1068FED472D1}"/>
              </a:ext>
            </a:extLst>
          </p:cNvPr>
          <p:cNvSpPr>
            <a:spLocks noGrp="1"/>
          </p:cNvSpPr>
          <p:nvPr/>
        </p:nvSpPr>
        <p:spPr>
          <a:xfrm>
            <a:off x="933450" y="38862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B4B8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4B8F"/>
                </a:solidFill>
                <a:latin typeface="Arial"/>
                <a:ea typeface="Arial"/>
                <a:cs typeface="Arial"/>
              </a:rPr>
              <a:t>CURRENT BOUNDARY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109C43-D5F0-4123-81B0-EC2BC70A2132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4000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Dependency-free .mforge input</a:t>
            </a: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float32, rank-2 feed-forward models</a:t>
            </a: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Gemm, MatMul, Add, Relu, Sigmoid, Softmax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545F5E-F03E-4FEC-8DFB-6C2E7997E344}"/>
              </a:ext>
            </a:extLst>
          </p:cNvPr>
          <p:cNvSpPr>
            <a:spLocks noGrp="1"/>
          </p:cNvSpPr>
          <p:nvPr/>
        </p:nvSpPr>
        <p:spPr>
          <a:xfrm>
            <a:off x="6496050" y="38862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0C7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C7C7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379558-9969-4AA0-A008-6C842D1700BC}"/>
              </a:ext>
            </a:extLst>
          </p:cNvPr>
          <p:cNvSpPr>
            <a:spLocks noGrp="1"/>
          </p:cNvSpPr>
          <p:nvPr/>
        </p:nvSpPr>
        <p:spPr>
          <a:xfrm>
            <a:off x="6496050" y="4248150"/>
            <a:ext cx="4000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Connect the real ONNX path</a:t>
            </a: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then extend the operator set</a:t>
            </a:r>
          </a:p>
          <a:p>
            <a:pPr algn="l">
              <a:lnSpc>
                <a:spcPct val="118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with the same validation and IR structure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94058B-C491-4CFC-918C-9CD16420EFF8}"/>
              </a:ext>
            </a:extLst>
          </p:cNvPr>
          <p:cNvSpPr>
            <a:spLocks noGrp="1"/>
          </p:cNvSpPr>
          <p:nvPr/>
        </p:nvSpPr>
        <p:spPr>
          <a:xfrm>
            <a:off x="933450" y="57721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082A6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82A6B"/>
                </a:solidFill>
                <a:latin typeface="Arial"/>
                <a:ea typeface="Arial"/>
                <a:cs typeface="Arial"/>
              </a:rPr>
              <a:t>Worth doing because the model is small enough to understand, but rich enough to demonstrate a real compiler.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A7DEA-7616-491D-B979-BC69A69846B4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A6D4AB-63D6-47AA-B7EF-5FAD952E9B8B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0C7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C7C7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F8B9D1-5937-476C-9807-27AA60DDC35A}"/>
              </a:ext>
            </a:extLst>
          </p:cNvPr>
          <p:cNvSpPr>
            <a:spLocks noGrp="1"/>
          </p:cNvSpPr>
          <p:nvPr/>
        </p:nvSpPr>
        <p:spPr>
          <a:xfrm>
            <a:off x="933450" y="54864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7B818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B8189"/>
                </a:solidFill>
                <a:latin typeface="Arial"/>
                <a:ea typeface="Arial"/>
                <a:cs typeface="Arial"/>
              </a:rPr>
              <a:t>It connects language design, IR, optimization, and code generation in one testable example.</a:t>
            </a:r>
          </a:p>
        </p:txBody>
      </p:sp>
    </p:spTree>
    <p:extLst>
      <p:ext uri="{BB962C8B-B14F-4D97-AF65-F5344CB8AC3E}">
        <p14:creationId xmlns:p14="http://schemas.microsoft.com/office/powerpoint/2010/main" val="3929801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Microsoft Office PowerPoint</Application>
  <DocSecurity>0</DocSecurity>
  <PresentationFormat>Widescreen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Vaishnavi Devulapalli</cp:lastModifiedBy>
  <cp:revision>1</cp:revision>
  <dcterms:created xsi:type="dcterms:W3CDTF">2026-09-17T16:22:38Z</dcterms:created>
  <dcterms:modified xsi:type="dcterms:W3CDTF">2026-09-18T11:18:46Z</dcterms:modified>
</cp:coreProperties>
</file>