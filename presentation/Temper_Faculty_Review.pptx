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bdd63aca-1a74-934a-cdcb-7baca1eca81e}">
          <p14:sldIdLst>
            <p14:sldId id="256"/>
            <p14:sldId id="257"/>
          </p14:sldIdLst>
        </p14:section>
        <p14:section name="Approach" id="{5e9eb159-0867-df8a-2607-ed65ff218e1e}">
          <p14:sldIdLst>
            <p14:sldId id="258"/>
            <p14:sldId id="259"/>
            <p14:sldId id="260"/>
          </p14:sldIdLst>
        </p14:section>
        <p14:section name="Results" id="{eb6e80dd-fd1c-ed71-55b2-1d884d437994}">
          <p14:sldIdLst>
            <p14:sldId id="261"/>
            <p14:sldId id="262"/>
            <p14:sldId id="263"/>
          </p14:sldIdLst>
        </p14:section>
        <p14:section name="Conclusion" id="{8bd1b2f6-7452-8638-a394-6bce3be70733}">
          <p14:sldIdLst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Faults refuted (%)</c:v>
                </c:pt>
              </c:strCache>
            </c:strRef>
          </c:tx>
          <c:spPr>
            <a:solidFill>
              <a:srgbClr val="6F9BD8"/>
            </a:solidFill>
            <a:effectLst/>
          </c:spPr>
          <c:invertIfNegative val="0"/>
          <c:dLbls>
            <c:numFmt formatCode="0.0#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F4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Falsifier only</c:v>
                  </c:pt>
                  <c:pt idx="1">
                    <c:v>Certifier only</c:v>
                  </c:pt>
                  <c:pt idx="2">
                    <c:v>Temper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96.7</c:v>
                </c:pt>
                <c:pt idx="1">
                  <c:v>82.3</c:v>
                </c:pt>
                <c:pt idx="2">
                  <c:v>99.95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All decided (%)</c:v>
                </c:pt>
              </c:strCache>
            </c:strRef>
          </c:tx>
          <c:spPr>
            <a:solidFill>
              <a:srgbClr val="86C9D9"/>
            </a:solidFill>
            <a:effectLst/>
          </c:spPr>
          <c:invertIfNegative val="0"/>
          <c:dLbls>
            <c:numFmt formatCode="0.0#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F4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Falsifier only</c:v>
                  </c:pt>
                  <c:pt idx="1">
                    <c:v>Certifier only</c:v>
                  </c:pt>
                  <c:pt idx="2">
                    <c:v>Temper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84.6</c:v>
                </c:pt>
                <c:pt idx="1">
                  <c:v>84.2</c:v>
                </c:pt>
                <c:pt idx="2">
                  <c:v>99.7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b="0" i="0" strike="noStrike" sz="900" u="none">
                  <a:solidFill>
                    <a:srgbClr val="333F4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3F4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333F4F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3A6EB5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3A6EB5"/>
                </a:solidFill>
                <a:latin typeface="+mn-lt"/>
              </a:rPr>
              <a:t>Observable faults detected (of 71)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Faults detected (of 71)</c:v>
                </c:pt>
              </c:strCache>
            </c:strRef>
          </c:tx>
          <c:spPr>
            <a:solidFill>
              <a:srgbClr val="86C9D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33F4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6C9D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6C9D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9AB0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Test-set check</c:v>
                  </c:pt>
                  <c:pt idx="1">
                    <c:v>1,000 random inputs</c:v>
                  </c:pt>
                  <c:pt idx="2">
                    <c:v>Temper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62</c:v>
                </c:pt>
                <c:pt idx="1">
                  <c:v>66</c:v>
                </c:pt>
                <c:pt idx="2">
                  <c:v>71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333F4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3F4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Temper is a trust layer: for every transformation a model goes through on its way to a device, it gives a counterexample, a proof, or the share already proven. ModelForge is the compiler underneath.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neural network reaches a device through several transformations. Each can silently change outputs. Tests can only fail to find bugs; verifiers often return unknown. We want both answers from one tool.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2,064 injected faults, 96 negative controls, 192 real optimisation passes. Temper refutes all but one observable fault, certifies every benign rewrite bit-exact, and is the cheapest of the three.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Datasets: Iris, Wine, Breast Cancer, Digits; two MLP sizes each. Temper catches all 71 observable faults where standard test-set checking catches 62.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Inspired by HAWQ (mixed precision), delta debugging and DeepFault (localisation), and IVAN (incremental verification) — but every result here comes with a proof.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768096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73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Temper · ModelForge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95528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95528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02920" y="-411480"/>
            <a:ext cx="1920240" cy="1662928"/>
          </a:xfrm>
          <a:prstGeom prst="hexagon">
            <a:avLst/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" y="-822960"/>
            <a:ext cx="1920240" cy="1662928"/>
          </a:xfrm>
          <a:prstGeom prst="hexagon">
            <a:avLst/>
          </a:prstGeom>
          <a:solidFill>
            <a:schemeClr val="accent3"/>
          </a:solidFill>
          <a:ln/>
        </p:spPr>
      </p:sp>
      <p:sp>
        <p:nvSpPr>
          <p:cNvPr id="4" name="Shape 2"/>
          <p:cNvSpPr/>
          <p:nvPr/>
        </p:nvSpPr>
        <p:spPr>
          <a:xfrm>
            <a:off x="-1234440" y="1234440"/>
            <a:ext cx="1920240" cy="1662928"/>
          </a:xfrm>
          <a:prstGeom prst="hexagon">
            <a:avLst/>
          </a:prstGeom>
          <a:solidFill>
            <a:schemeClr val="accent5">
              <a:alpha val="60000"/>
            </a:schemeClr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411480"/>
            <a:ext cx="2194560" cy="1900489"/>
          </a:xfrm>
          <a:prstGeom prst="hexagon">
            <a:avLst/>
          </a:prstGeom>
          <a:solidFill>
            <a:schemeClr val="accent1"/>
          </a:solidFill>
          <a:ln/>
        </p:spPr>
      </p:sp>
      <p:sp>
        <p:nvSpPr>
          <p:cNvPr id="6" name="Shape 4"/>
          <p:cNvSpPr/>
          <p:nvPr/>
        </p:nvSpPr>
        <p:spPr>
          <a:xfrm>
            <a:off x="1874520" y="960120"/>
            <a:ext cx="1463040" cy="1266993"/>
          </a:xfrm>
          <a:prstGeom prst="hexagon">
            <a:avLst/>
          </a:prstGeom>
          <a:solidFill>
            <a:schemeClr val="accent2">
              <a:alpha val="75000"/>
            </a:schemeClr>
          </a:solidFill>
          <a:ln/>
        </p:spPr>
      </p:sp>
      <p:sp>
        <p:nvSpPr>
          <p:cNvPr id="7" name="Shape 5"/>
          <p:cNvSpPr/>
          <p:nvPr/>
        </p:nvSpPr>
        <p:spPr>
          <a:xfrm>
            <a:off x="-228600" y="2514600"/>
            <a:ext cx="1554480" cy="1346180"/>
          </a:xfrm>
          <a:prstGeom prst="hexagon">
            <a:avLst/>
          </a:prstGeom>
          <a:solidFill>
            <a:schemeClr val="accent3"/>
          </a:solidFill>
          <a:ln/>
        </p:spPr>
      </p:sp>
      <p:sp>
        <p:nvSpPr>
          <p:cNvPr id="8" name="Shape 6"/>
          <p:cNvSpPr/>
          <p:nvPr/>
        </p:nvSpPr>
        <p:spPr>
          <a:xfrm>
            <a:off x="1325880" y="2331720"/>
            <a:ext cx="1097280" cy="950244"/>
          </a:xfrm>
          <a:prstGeom prst="hexagon">
            <a:avLst/>
          </a:prstGeom>
          <a:solidFill>
            <a:schemeClr val="accent5">
              <a:alpha val="60000"/>
            </a:schemeClr>
          </a:solidFill>
          <a:ln/>
        </p:spPr>
      </p:sp>
      <p:sp>
        <p:nvSpPr>
          <p:cNvPr id="9" name="Shape 7"/>
          <p:cNvSpPr/>
          <p:nvPr/>
        </p:nvSpPr>
        <p:spPr>
          <a:xfrm>
            <a:off x="2880360" y="228600"/>
            <a:ext cx="502920" cy="435529"/>
          </a:xfrm>
          <a:prstGeom prst="hexagon">
            <a:avLst/>
          </a:prstGeom>
          <a:solidFill>
            <a:schemeClr val="accent2"/>
          </a:solidFill>
          <a:ln/>
        </p:spPr>
      </p:sp>
      <p:sp>
        <p:nvSpPr>
          <p:cNvPr id="10" name="Shape 8"/>
          <p:cNvSpPr/>
          <p:nvPr/>
        </p:nvSpPr>
        <p:spPr>
          <a:xfrm>
            <a:off x="7955280" y="2651760"/>
            <a:ext cx="1371600" cy="1187806"/>
          </a:xfrm>
          <a:prstGeom prst="hexagon">
            <a:avLst/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11" name="Shape 9"/>
          <p:cNvSpPr/>
          <p:nvPr/>
        </p:nvSpPr>
        <p:spPr>
          <a:xfrm>
            <a:off x="7360920" y="3749040"/>
            <a:ext cx="548640" cy="475122"/>
          </a:xfrm>
          <a:prstGeom prst="hexagon">
            <a:avLst/>
          </a:prstGeom>
          <a:solidFill>
            <a:schemeClr val="accent2">
              <a:alpha val="80000"/>
            </a:schemeClr>
          </a:solidFill>
          <a:ln/>
        </p:spPr>
      </p:sp>
      <p:sp>
        <p:nvSpPr>
          <p:cNvPr id="12" name="Shape 10"/>
          <p:cNvSpPr/>
          <p:nvPr/>
        </p:nvSpPr>
        <p:spPr>
          <a:xfrm>
            <a:off x="7818120" y="4160520"/>
            <a:ext cx="1463040" cy="1266993"/>
          </a:xfrm>
          <a:prstGeom prst="hexagon">
            <a:avLst/>
          </a:prstGeom>
          <a:solidFill>
            <a:schemeClr val="accent5">
              <a:alpha val="60000"/>
            </a:scheme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657600" y="114300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spc="400" kern="0" dirty="0">
                <a:solidFill>
                  <a:schemeClr val="tx2"/>
                </a:solidFill>
              </a:rPr>
              <a:t>TEMPER</a:t>
            </a:r>
            <a:endParaRPr lang="en-US" sz="54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201168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Falsify-or-Certify Trust for Neural Networks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3657600" y="256032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From trained model to shipped binary — built on the ModelForge C++17 model compiler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657600" y="34290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Vaishnavi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Project Review · October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-274320"/>
            <a:ext cx="1463040" cy="1266993"/>
          </a:xfrm>
          <a:prstGeom prst="hexagon">
            <a:avLst/>
          </a:prstGeom>
          <a:solidFill>
            <a:schemeClr val="accent2">
              <a:alpha val="80000"/>
            </a:scheme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65760"/>
            <a:ext cx="1188720" cy="1029432"/>
          </a:xfrm>
          <a:prstGeom prst="hexagon">
            <a:avLst/>
          </a:prstGeom>
          <a:solidFill>
            <a:schemeClr val="accent3"/>
          </a:solidFill>
          <a:ln/>
        </p:spPr>
      </p:sp>
      <p:sp>
        <p:nvSpPr>
          <p:cNvPr id="4" name="Text 2"/>
          <p:cNvSpPr/>
          <p:nvPr/>
        </p:nvSpPr>
        <p:spPr>
          <a:xfrm>
            <a:off x="-182880" y="1417320"/>
            <a:ext cx="2377440" cy="2058863"/>
          </a:xfrm>
          <a:prstGeom prst="hexagon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CONTENTS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783080" y="1965960"/>
            <a:ext cx="1097280" cy="950244"/>
          </a:xfrm>
          <a:prstGeom prst="hexagon">
            <a:avLst/>
          </a:prstGeom>
          <a:solidFill>
            <a:schemeClr val="accent3"/>
          </a:solidFill>
          <a:ln/>
        </p:spPr>
      </p:sp>
      <p:sp>
        <p:nvSpPr>
          <p:cNvPr id="6" name="Shape 4"/>
          <p:cNvSpPr/>
          <p:nvPr/>
        </p:nvSpPr>
        <p:spPr>
          <a:xfrm>
            <a:off x="-457200" y="3429000"/>
            <a:ext cx="1371600" cy="1187806"/>
          </a:xfrm>
          <a:prstGeom prst="hexagon">
            <a:avLst/>
          </a:prstGeom>
          <a:solidFill>
            <a:schemeClr val="accent2">
              <a:alpha val="80000"/>
            </a:schemeClr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3246120"/>
            <a:ext cx="822960" cy="712683"/>
          </a:xfrm>
          <a:prstGeom prst="hexagon">
            <a:avLst/>
          </a:prstGeom>
          <a:solidFill>
            <a:schemeClr val="accent5">
              <a:alpha val="70000"/>
            </a:schemeClr>
          </a:solidFill>
          <a:ln/>
        </p:spPr>
      </p:sp>
      <p:sp>
        <p:nvSpPr>
          <p:cNvPr id="8" name="Shape 6"/>
          <p:cNvSpPr/>
          <p:nvPr/>
        </p:nvSpPr>
        <p:spPr>
          <a:xfrm>
            <a:off x="8503920" y="4480560"/>
            <a:ext cx="914400" cy="791870"/>
          </a:xfrm>
          <a:prstGeom prst="hexagon">
            <a:avLst/>
          </a:prstGeom>
          <a:solidFill>
            <a:schemeClr val="accent5">
              <a:alpha val="70000"/>
            </a:schemeClr>
          </a:solidFill>
          <a:ln/>
        </p:spPr>
      </p:sp>
      <p:sp>
        <p:nvSpPr>
          <p:cNvPr id="9" name="Text 7"/>
          <p:cNvSpPr/>
          <p:nvPr/>
        </p:nvSpPr>
        <p:spPr>
          <a:xfrm>
            <a:off x="3657600" y="384048"/>
            <a:ext cx="502920" cy="435529"/>
          </a:xfrm>
          <a:prstGeom prst="hexagon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01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343400" y="34747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The problem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343400" y="603504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Every step to the device can silently change a prediction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0" y="996696"/>
            <a:ext cx="502920" cy="435529"/>
          </a:xfrm>
          <a:prstGeom prst="hexagon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343400" y="9601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Our idea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343400" y="121615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Three verdicts: refuted, certified, undecided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0" y="1609344"/>
            <a:ext cx="502920" cy="435529"/>
          </a:xfrm>
          <a:prstGeom prst="hexagon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343400" y="157276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How Temper works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343400" y="182880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Falsifier + float32-sound certifier in one loop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0" y="2221992"/>
            <a:ext cx="502920" cy="435529"/>
          </a:xfrm>
          <a:prstGeom prst="hexagon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04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343400" y="218541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Headline metrics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343400" y="2441448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2,352 transformations of 96 networks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0" y="2834640"/>
            <a:ext cx="502920" cy="435529"/>
          </a:xfrm>
          <a:prstGeom prst="hexagon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05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343400" y="279806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Real models, real bug classes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343400" y="3054096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Compression, binaries, compiler-bug study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0" y="3447288"/>
            <a:ext cx="502920" cy="435529"/>
          </a:xfrm>
          <a:prstGeom prst="hexagon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06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343400" y="341071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After the verdict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4343400" y="3666744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Repair, culprit localisation, reusable proofs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0" y="4059936"/>
            <a:ext cx="502920" cy="435529"/>
          </a:xfrm>
          <a:prstGeom prst="hexagon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07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4343400" y="40233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Novelty and next steps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4343400" y="427939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What is new, honest limits, roadmap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-320040"/>
            <a:ext cx="822960" cy="712683"/>
          </a:xfrm>
          <a:prstGeom prst="hexagon">
            <a:avLst/>
          </a:prstGeom>
          <a:solidFill>
            <a:schemeClr val="accent3"/>
          </a:solidFill>
          <a:ln/>
        </p:spPr>
      </p:sp>
      <p:sp>
        <p:nvSpPr>
          <p:cNvPr id="3" name="Shape 1"/>
          <p:cNvSpPr/>
          <p:nvPr/>
        </p:nvSpPr>
        <p:spPr>
          <a:xfrm>
            <a:off x="8732520" y="45720"/>
            <a:ext cx="548640" cy="475122"/>
          </a:xfrm>
          <a:prstGeom prst="hexagon">
            <a:avLst/>
          </a:prstGeom>
          <a:solidFill>
            <a:schemeClr val="accent2">
              <a:alpha val="80000"/>
            </a:schemeClr>
          </a:solidFill>
          <a:ln/>
        </p:spPr>
      </p:sp>
      <p:sp>
        <p:nvSpPr>
          <p:cNvPr id="4" name="Shape 2"/>
          <p:cNvSpPr/>
          <p:nvPr/>
        </p:nvSpPr>
        <p:spPr>
          <a:xfrm>
            <a:off x="8503920" y="4480560"/>
            <a:ext cx="914400" cy="791870"/>
          </a:xfrm>
          <a:prstGeom prst="hexagon">
            <a:avLst/>
          </a:prstGeom>
          <a:solidFill>
            <a:schemeClr val="accent5">
              <a:alpha val="70000"/>
            </a:schemeClr>
          </a:solidFill>
          <a:ln/>
        </p:spPr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457200" y="27432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Every step to the device can change a prediction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1097280" cy="950244"/>
          </a:xfrm>
          <a:prstGeom prst="hexagon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Trained model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572768" y="1554480"/>
            <a:ext cx="201168" cy="201168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8" name="Text 6"/>
          <p:cNvSpPr/>
          <p:nvPr/>
        </p:nvSpPr>
        <p:spPr>
          <a:xfrm>
            <a:off x="1801368" y="1188720"/>
            <a:ext cx="1097280" cy="950244"/>
          </a:xfrm>
          <a:prstGeom prst="hexagon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Compiler rewrites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916936" y="1554480"/>
            <a:ext cx="201168" cy="201168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10" name="Text 8"/>
          <p:cNvSpPr/>
          <p:nvPr/>
        </p:nvSpPr>
        <p:spPr>
          <a:xfrm>
            <a:off x="3145536" y="1188720"/>
            <a:ext cx="1097280" cy="950244"/>
          </a:xfrm>
          <a:prstGeom prst="hexagon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Quantise / prune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61104" y="1554480"/>
            <a:ext cx="201168" cy="201168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12" name="Text 10"/>
          <p:cNvSpPr/>
          <p:nvPr/>
        </p:nvSpPr>
        <p:spPr>
          <a:xfrm>
            <a:off x="4489704" y="1188720"/>
            <a:ext cx="1097280" cy="950244"/>
          </a:xfrm>
          <a:prstGeom prst="hexagon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Code generation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05272" y="1554480"/>
            <a:ext cx="201168" cy="201168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14" name="Text 12"/>
          <p:cNvSpPr/>
          <p:nvPr/>
        </p:nvSpPr>
        <p:spPr>
          <a:xfrm>
            <a:off x="5833872" y="1188720"/>
            <a:ext cx="1097280" cy="950244"/>
          </a:xfrm>
          <a:prstGeom prst="hexagon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C++ flags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949440" y="1554480"/>
            <a:ext cx="201168" cy="201168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16" name="Text 14"/>
          <p:cNvSpPr/>
          <p:nvPr/>
        </p:nvSpPr>
        <p:spPr>
          <a:xfrm>
            <a:off x="7178040" y="1188720"/>
            <a:ext cx="1097280" cy="950244"/>
          </a:xfrm>
          <a:prstGeom prst="hexagon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Device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514600"/>
            <a:ext cx="2468880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" y="267004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Testing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306324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says “no bug found” — never a proof that none exists.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154680" y="2514600"/>
            <a:ext cx="2468880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337560" y="267004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Verifiers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3337560" y="306324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say “unknown” — even when a real bug is present, with no input to show it.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852160" y="2514600"/>
            <a:ext cx="2468880" cy="1783080"/>
          </a:xfrm>
          <a:prstGeom prst="roundRect">
            <a:avLst>
              <a:gd name="adj" fmla="val 4103"/>
            </a:avLst>
          </a:prstGeom>
          <a:solidFill>
            <a:schemeClr val="accent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035040" y="267004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The gap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6035040" y="306324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 tool both finds the bug and proves its absence, soundly for float32 arithmetic.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95528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-320040"/>
            <a:ext cx="822960" cy="712683"/>
          </a:xfrm>
          <a:prstGeom prst="hexagon">
            <a:avLst/>
          </a:prstGeom>
          <a:solidFill>
            <a:schemeClr val="accent3"/>
          </a:solidFill>
          <a:ln/>
        </p:spPr>
      </p:sp>
      <p:sp>
        <p:nvSpPr>
          <p:cNvPr id="3" name="Shape 1"/>
          <p:cNvSpPr/>
          <p:nvPr/>
        </p:nvSpPr>
        <p:spPr>
          <a:xfrm>
            <a:off x="8732520" y="45720"/>
            <a:ext cx="548640" cy="475122"/>
          </a:xfrm>
          <a:prstGeom prst="hexagon">
            <a:avLst/>
          </a:prstGeom>
          <a:solidFill>
            <a:schemeClr val="accent2">
              <a:alpha val="80000"/>
            </a:schemeClr>
          </a:solidFill>
          <a:ln/>
        </p:spPr>
      </p:sp>
      <p:sp>
        <p:nvSpPr>
          <p:cNvPr id="4" name="Shape 2"/>
          <p:cNvSpPr/>
          <p:nvPr/>
        </p:nvSpPr>
        <p:spPr>
          <a:xfrm>
            <a:off x="8503920" y="4480560"/>
            <a:ext cx="914400" cy="791870"/>
          </a:xfrm>
          <a:prstGeom prst="hexagon">
            <a:avLst/>
          </a:prstGeom>
          <a:solidFill>
            <a:schemeClr val="accent5">
              <a:alpha val="70000"/>
            </a:schemeClr>
          </a:solidFill>
          <a:ln/>
        </p:spPr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457200" y="27432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One question, three honest answers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468880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/>
          <p:nvPr/>
        </p:nvSpPr>
        <p:spPr>
          <a:xfrm>
            <a:off x="1325880" y="1371600"/>
            <a:ext cx="731520" cy="633496"/>
          </a:xfrm>
          <a:prstGeom prst="hexagon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✕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1031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REFUTED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4688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 replayable input where the outputs differ, localised to the first IR value that diverges.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154680" y="1188720"/>
            <a:ext cx="2468880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/>
          <p:nvPr/>
        </p:nvSpPr>
        <p:spPr>
          <a:xfrm>
            <a:off x="4023360" y="1371600"/>
            <a:ext cx="731520" cy="633496"/>
          </a:xfrm>
          <a:prstGeom prst="hexagon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✓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3337560" y="21031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CERTIFIED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337560" y="24688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 proof: outputs bit-identical (or within ε) for every input in the deployment domain — sound for float32.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852160" y="1188720"/>
            <a:ext cx="2468880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/>
        </p:spPr>
      </p:sp>
      <p:sp>
        <p:nvSpPr>
          <p:cNvPr id="15" name="Text 13"/>
          <p:cNvSpPr/>
          <p:nvPr/>
        </p:nvSpPr>
        <p:spPr>
          <a:xfrm>
            <a:off x="6720840" y="1371600"/>
            <a:ext cx="731520" cy="633496"/>
          </a:xfrm>
          <a:prstGeom prst="hexagon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?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6035040" y="21031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UNDECIDED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0" y="24688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The share of the domain already proven, so you know exactly what is left.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749040"/>
            <a:ext cx="7863840" cy="777240"/>
          </a:xfrm>
          <a:prstGeom prst="roundRect">
            <a:avLst>
              <a:gd name="adj" fmla="val 9412"/>
            </a:avLst>
          </a:prstGeom>
          <a:solidFill>
            <a:schemeClr val="accent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0080" y="38862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One command: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temper model.mforge --data test.csv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 →  dossier.json + CI exit codes (0 ship, 3 blocked)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95528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-320040"/>
            <a:ext cx="822960" cy="712683"/>
          </a:xfrm>
          <a:prstGeom prst="hexagon">
            <a:avLst/>
          </a:prstGeom>
          <a:solidFill>
            <a:schemeClr val="accent3"/>
          </a:solidFill>
          <a:ln/>
        </p:spPr>
      </p:sp>
      <p:sp>
        <p:nvSpPr>
          <p:cNvPr id="3" name="Shape 1"/>
          <p:cNvSpPr/>
          <p:nvPr/>
        </p:nvSpPr>
        <p:spPr>
          <a:xfrm>
            <a:off x="8732520" y="45720"/>
            <a:ext cx="548640" cy="475122"/>
          </a:xfrm>
          <a:prstGeom prst="hexagon">
            <a:avLst/>
          </a:prstGeom>
          <a:solidFill>
            <a:schemeClr val="accent2">
              <a:alpha val="80000"/>
            </a:schemeClr>
          </a:solidFill>
          <a:ln/>
        </p:spPr>
      </p:sp>
      <p:sp>
        <p:nvSpPr>
          <p:cNvPr id="4" name="Shape 2"/>
          <p:cNvSpPr/>
          <p:nvPr/>
        </p:nvSpPr>
        <p:spPr>
          <a:xfrm>
            <a:off x="8503920" y="4480560"/>
            <a:ext cx="914400" cy="791870"/>
          </a:xfrm>
          <a:prstGeom prst="hexagon">
            <a:avLst/>
          </a:prstGeom>
          <a:solidFill>
            <a:schemeClr val="accent5">
              <a:alpha val="70000"/>
            </a:schemeClr>
          </a:solidFill>
          <a:ln/>
        </p:spPr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457200" y="27432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How Temper works: falsify, then certify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685800" cy="593903"/>
          </a:xfrm>
          <a:prstGeom prst="hexagon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1887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Static proof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810512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Canonical form + exactness bit: many rewrites proven with 0 evaluations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880360" y="1353312"/>
            <a:ext cx="228600" cy="228600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10" name="Text 8"/>
          <p:cNvSpPr/>
          <p:nvPr/>
        </p:nvSpPr>
        <p:spPr>
          <a:xfrm>
            <a:off x="3154680" y="1143000"/>
            <a:ext cx="685800" cy="593903"/>
          </a:xfrm>
          <a:prstGeom prst="hexagon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931920" y="11887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Guardian-APC+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154680" y="1810512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Falsifier: inputs on every ReLU kink, ordered by activation-pattern coverage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577840" y="1353312"/>
            <a:ext cx="228600" cy="228600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14" name="Text 12"/>
          <p:cNvSpPr/>
          <p:nvPr/>
        </p:nvSpPr>
        <p:spPr>
          <a:xfrm>
            <a:off x="5852160" y="1143000"/>
            <a:ext cx="685800" cy="593903"/>
          </a:xfrm>
          <a:prstGeom prst="hexagon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629400" y="11887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Branch &amp; bound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852160" y="1810512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Certificate-guided: undecided boxes produce witnesses (Newton steps)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2743200"/>
            <a:ext cx="384048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" y="285292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Falsifier — finds bugs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3200400"/>
            <a:ext cx="3520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Newton on the exact gradient places inputs on ReLU kinks at any depth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Focuses on what the rewrite changed, plus near-miss search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99.2% of observable faults with 128 inputs vs 75.0% random (p &lt; 1e-4)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480560" y="2743200"/>
            <a:ext cx="384048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663440" y="285292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Certifier — proves absence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663440" y="3200400"/>
            <a:ext cx="3520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Float32-sound symbolic bounds (dot-product rounding γₙ)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Lockstep Δ = candidate − original with an exactness bit per value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Divergence sources tell the falsifier where bugs can live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95528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-320040"/>
            <a:ext cx="822960" cy="712683"/>
          </a:xfrm>
          <a:prstGeom prst="hexagon">
            <a:avLst/>
          </a:prstGeom>
          <a:solidFill>
            <a:schemeClr val="accent3"/>
          </a:solidFill>
          <a:ln/>
        </p:spPr>
      </p:sp>
      <p:sp>
        <p:nvSpPr>
          <p:cNvPr id="3" name="Shape 1"/>
          <p:cNvSpPr/>
          <p:nvPr/>
        </p:nvSpPr>
        <p:spPr>
          <a:xfrm>
            <a:off x="8732520" y="45720"/>
            <a:ext cx="548640" cy="475122"/>
          </a:xfrm>
          <a:prstGeom prst="hexagon">
            <a:avLst/>
          </a:prstGeom>
          <a:solidFill>
            <a:schemeClr val="accent2">
              <a:alpha val="80000"/>
            </a:schemeClr>
          </a:solidFill>
          <a:ln/>
        </p:spPr>
      </p:sp>
      <p:sp>
        <p:nvSpPr>
          <p:cNvPr id="4" name="Shape 2"/>
          <p:cNvSpPr/>
          <p:nvPr/>
        </p:nvSpPr>
        <p:spPr>
          <a:xfrm>
            <a:off x="8503920" y="4480560"/>
            <a:ext cx="914400" cy="791870"/>
          </a:xfrm>
          <a:prstGeom prst="hexagon">
            <a:avLst/>
          </a:prstGeom>
          <a:solidFill>
            <a:schemeClr val="accent5">
              <a:alpha val="70000"/>
            </a:schemeClr>
          </a:solidFill>
          <a:ln/>
        </p:spPr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457200" y="27432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Headline metrics: 2,352 transformations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182880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16128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4"/>
                </a:solidFill>
              </a:rPr>
              <a:t>2,057 / 2,058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71907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observable faults refuted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41448" y="1097280"/>
            <a:ext cx="182880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532888" y="116128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4"/>
                </a:solidFill>
              </a:rPr>
              <a:t>100%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2532888" y="171907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benign rewrites certified bit-exact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25696" y="1097280"/>
            <a:ext cx="182880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17136" y="116128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4"/>
                </a:solidFill>
              </a:rPr>
              <a:t>99.7%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4517136" y="171907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of all cases decided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9944" y="1097280"/>
            <a:ext cx="182880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501384" y="116128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4"/>
                </a:solidFill>
              </a:rPr>
              <a:t>0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6501384" y="171907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unsound verdicts</a:t>
            </a:r>
            <a:endParaRPr lang="en-US" sz="11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457200" y="2331720"/>
          <a:ext cx="512064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Shape 16"/>
          <p:cNvSpPr/>
          <p:nvPr/>
        </p:nvSpPr>
        <p:spPr>
          <a:xfrm>
            <a:off x="5806440" y="2331720"/>
            <a:ext cx="2514600" cy="2286000"/>
          </a:xfrm>
          <a:prstGeom prst="roundRect">
            <a:avLst>
              <a:gd name="adj" fmla="val 3200"/>
            </a:avLst>
          </a:prstGeom>
          <a:solidFill>
            <a:schemeClr val="accent3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989320" y="24505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Evaluations per case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5989320" y="28163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Falsifier only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7406640" y="28163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23.5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5989320" y="31821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Certifier only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7406640" y="318211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101.8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5989320" y="35478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Temper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7406640" y="354787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11.3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5989320" y="3950208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54 faults no random input exposed were found only by certificate-guided witnesses.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95528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-320040"/>
            <a:ext cx="822960" cy="712683"/>
          </a:xfrm>
          <a:prstGeom prst="hexagon">
            <a:avLst/>
          </a:prstGeom>
          <a:solidFill>
            <a:schemeClr val="accent3"/>
          </a:solidFill>
          <a:ln/>
        </p:spPr>
      </p:sp>
      <p:sp>
        <p:nvSpPr>
          <p:cNvPr id="3" name="Shape 1"/>
          <p:cNvSpPr/>
          <p:nvPr/>
        </p:nvSpPr>
        <p:spPr>
          <a:xfrm>
            <a:off x="8732520" y="45720"/>
            <a:ext cx="548640" cy="475122"/>
          </a:xfrm>
          <a:prstGeom prst="hexagon">
            <a:avLst/>
          </a:prstGeom>
          <a:solidFill>
            <a:schemeClr val="accent2">
              <a:alpha val="80000"/>
            </a:schemeClr>
          </a:solidFill>
          <a:ln/>
        </p:spPr>
      </p:sp>
      <p:sp>
        <p:nvSpPr>
          <p:cNvPr id="4" name="Shape 2"/>
          <p:cNvSpPr/>
          <p:nvPr/>
        </p:nvSpPr>
        <p:spPr>
          <a:xfrm>
            <a:off x="8503920" y="4480560"/>
            <a:ext cx="914400" cy="791870"/>
          </a:xfrm>
          <a:prstGeom prst="hexagon">
            <a:avLst/>
          </a:prstGeom>
          <a:solidFill>
            <a:schemeClr val="accent5">
              <a:alpha val="70000"/>
            </a:schemeClr>
          </a:solidFill>
          <a:ln/>
        </p:spPr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457200" y="27432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Real models and real compiler-bug classes</a:t>
            </a:r>
            <a:endParaRPr lang="en-US" sz="3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051560"/>
          <a:ext cx="411480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365760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80 faults from 10 bug classes in the Shen et al. (FSE’21) compiler-bug study — layout, fusion, broadcast, loop bounds, activation lowering, quantisation rounding/overflow — on 8 trained classifiers.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892040" y="1170432"/>
            <a:ext cx="457200" cy="395935"/>
          </a:xfrm>
          <a:prstGeom prst="hexagon">
            <a:avLst/>
          </a:prstGeom>
          <a:solidFill>
            <a:schemeClr val="accent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486400" y="1097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9 bugs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486400" y="13716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proven harmless on the deployment domain, 0 wrong proofs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892040" y="2039112"/>
            <a:ext cx="457200" cy="395935"/>
          </a:xfrm>
          <a:prstGeom prst="hexagon">
            <a:avLst/>
          </a:prstGeom>
          <a:solidFill>
            <a:schemeClr val="accent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486400" y="1965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40 compression cases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0" y="22402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12 certified low-risk, 25 refuted (7 kept full test accuracy), 3 undecided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892040" y="2907792"/>
            <a:ext cx="457200" cy="395935"/>
          </a:xfrm>
          <a:prstGeom prst="hexagon">
            <a:avLst/>
          </a:prstGeom>
          <a:solidFill>
            <a:schemeClr val="accent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486400" y="2834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8 / 8 binaries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0" y="31089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bit-exact at -O0/-O2; FMA and fast-math move scores &lt; 1e-6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892040" y="3776472"/>
            <a:ext cx="457200" cy="395935"/>
          </a:xfrm>
          <a:prstGeom prst="hexagon">
            <a:avLst/>
          </a:prstGeom>
          <a:solidFill>
            <a:schemeClr val="accent6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5486400" y="3703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1 real bug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0" y="39776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found in the generated parser (subnormal inputs rejected), fixed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95528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-320040"/>
            <a:ext cx="822960" cy="712683"/>
          </a:xfrm>
          <a:prstGeom prst="hexagon">
            <a:avLst/>
          </a:prstGeom>
          <a:solidFill>
            <a:schemeClr val="accent3"/>
          </a:solidFill>
          <a:ln/>
        </p:spPr>
      </p:sp>
      <p:sp>
        <p:nvSpPr>
          <p:cNvPr id="3" name="Shape 1"/>
          <p:cNvSpPr/>
          <p:nvPr/>
        </p:nvSpPr>
        <p:spPr>
          <a:xfrm>
            <a:off x="8732520" y="45720"/>
            <a:ext cx="548640" cy="475122"/>
          </a:xfrm>
          <a:prstGeom prst="hexagon">
            <a:avLst/>
          </a:prstGeom>
          <a:solidFill>
            <a:schemeClr val="accent2">
              <a:alpha val="80000"/>
            </a:schemeClr>
          </a:solidFill>
          <a:ln/>
        </p:spPr>
      </p:sp>
      <p:sp>
        <p:nvSpPr>
          <p:cNvPr id="4" name="Shape 2"/>
          <p:cNvSpPr/>
          <p:nvPr/>
        </p:nvSpPr>
        <p:spPr>
          <a:xfrm>
            <a:off x="8503920" y="4480560"/>
            <a:ext cx="914400" cy="791870"/>
          </a:xfrm>
          <a:prstGeom prst="hexagon">
            <a:avLst/>
          </a:prstGeom>
          <a:solidFill>
            <a:schemeClr val="accent5">
              <a:alpha val="70000"/>
            </a:schemeClr>
          </a:solidFill>
          <a:ln/>
        </p:spPr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457200" y="27432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After the verdict: what to do next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2468880" cy="3474720"/>
          </a:xfrm>
          <a:prstGeom prst="roundRect">
            <a:avLst>
              <a:gd name="adj" fmla="val 2963"/>
            </a:avLst>
          </a:prstGeom>
          <a:solidFill>
            <a:schemeClr val="bg2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261872"/>
            <a:ext cx="457200" cy="395935"/>
          </a:xfrm>
          <a:prstGeom prst="hexagon">
            <a:avLst/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88720" y="126187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Certified repair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7830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--repair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0574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4"/>
                </a:solidFill>
              </a:rPr>
              <a:t>35.7%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69748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of weights kept (Wine 32×16) vs 50% for the best certified uniform format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611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8 / 8 mixed-precision plans certified low-risk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154680" y="1097280"/>
            <a:ext cx="2468880" cy="3474720"/>
          </a:xfrm>
          <a:prstGeom prst="roundRect">
            <a:avLst>
              <a:gd name="adj" fmla="val 2963"/>
            </a:avLst>
          </a:prstGeom>
          <a:solidFill>
            <a:schemeClr val="bg2"/>
          </a:solidFill>
          <a:ln/>
        </p:spPr>
      </p:sp>
      <p:sp>
        <p:nvSpPr>
          <p:cNvPr id="14" name="Shape 12"/>
          <p:cNvSpPr/>
          <p:nvPr/>
        </p:nvSpPr>
        <p:spPr>
          <a:xfrm>
            <a:off x="3337560" y="1261872"/>
            <a:ext cx="457200" cy="395935"/>
          </a:xfrm>
          <a:prstGeom prst="hexagon">
            <a:avLst/>
          </a:prstGeom>
          <a:solidFill>
            <a:schemeClr val="accent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886200" y="126187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Culprit localisation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3337560" y="17830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--compare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337560" y="20574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4"/>
                </a:solidFill>
              </a:rPr>
              <a:t>8 / 8</a:t>
            </a:r>
            <a:endParaRPr lang="en-US" sz="3600" dirty="0"/>
          </a:p>
        </p:txBody>
      </p:sp>
      <p:sp>
        <p:nvSpPr>
          <p:cNvPr id="18" name="Text 16"/>
          <p:cNvSpPr txBox="1"/>
          <p:nvPr/>
        </p:nvSpPr>
        <p:spPr>
          <a:xfrm>
            <a:off x="3337560" y="269748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models: the exact harmful weight found among 21–24 edits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337560" y="3611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8–10 decisions each; revert certified on 5 / 8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852160" y="1097280"/>
            <a:ext cx="2468880" cy="3474720"/>
          </a:xfrm>
          <a:prstGeom prst="roundRect">
            <a:avLst>
              <a:gd name="adj" fmla="val 2963"/>
            </a:avLst>
          </a:prstGeom>
          <a:solidFill>
            <a:schemeClr val="bg2"/>
          </a:solidFill>
          <a:ln/>
        </p:spPr>
      </p:sp>
      <p:sp>
        <p:nvSpPr>
          <p:cNvPr id="21" name="Shape 19"/>
          <p:cNvSpPr/>
          <p:nvPr/>
        </p:nvSpPr>
        <p:spPr>
          <a:xfrm>
            <a:off x="6035040" y="1261872"/>
            <a:ext cx="457200" cy="395935"/>
          </a:xfrm>
          <a:prstGeom prst="hexagon">
            <a:avLst/>
          </a:prstGeom>
          <a:solidFill>
            <a:schemeClr val="accent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83680" y="126187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Incremental proofs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035040" y="17830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--reuse-cert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035040" y="20574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4"/>
                </a:solidFill>
              </a:rPr>
              <a:t>≈ 2×</a:t>
            </a:r>
            <a:endParaRPr lang="en-US" sz="3600" dirty="0"/>
          </a:p>
        </p:txBody>
      </p:sp>
      <p:sp>
        <p:nvSpPr>
          <p:cNvPr id="25" name="Text 23"/>
          <p:cNvSpPr txBox="1"/>
          <p:nvPr/>
        </p:nvSpPr>
        <p:spPr>
          <a:xfrm>
            <a:off x="6035040" y="269748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less work: 761 → 384 boxes when re-certifying a new version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035040" y="3611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Old bug back? Caught in 1 evaluation (vs 49–2,487 boxes)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95528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-320040"/>
            <a:ext cx="822960" cy="712683"/>
          </a:xfrm>
          <a:prstGeom prst="hexagon">
            <a:avLst/>
          </a:prstGeom>
          <a:solidFill>
            <a:schemeClr val="accent3"/>
          </a:solidFill>
          <a:ln/>
        </p:spPr>
      </p:sp>
      <p:sp>
        <p:nvSpPr>
          <p:cNvPr id="3" name="Shape 1"/>
          <p:cNvSpPr/>
          <p:nvPr/>
        </p:nvSpPr>
        <p:spPr>
          <a:xfrm>
            <a:off x="8732520" y="45720"/>
            <a:ext cx="548640" cy="475122"/>
          </a:xfrm>
          <a:prstGeom prst="hexagon">
            <a:avLst/>
          </a:prstGeom>
          <a:solidFill>
            <a:schemeClr val="accent2">
              <a:alpha val="80000"/>
            </a:schemeClr>
          </a:solidFill>
          <a:ln/>
        </p:spPr>
      </p:sp>
      <p:sp>
        <p:nvSpPr>
          <p:cNvPr id="4" name="Shape 2"/>
          <p:cNvSpPr/>
          <p:nvPr/>
        </p:nvSpPr>
        <p:spPr>
          <a:xfrm>
            <a:off x="8503920" y="4480560"/>
            <a:ext cx="914400" cy="791870"/>
          </a:xfrm>
          <a:prstGeom prst="hexagon">
            <a:avLst/>
          </a:prstGeom>
          <a:solidFill>
            <a:schemeClr val="accent5">
              <a:alpha val="70000"/>
            </a:schemeClr>
          </a:solidFill>
          <a:ln/>
        </p:spPr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457200" y="27432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Novelty, honest limits and next steps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2468880" cy="2606040"/>
          </a:xfrm>
          <a:prstGeom prst="roundRect">
            <a:avLst>
              <a:gd name="adj" fmla="val 2963"/>
            </a:avLst>
          </a:prstGeom>
          <a:solidFill>
            <a:schemeClr val="bg2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243584"/>
            <a:ext cx="411480" cy="356342"/>
          </a:xfrm>
          <a:prstGeom prst="hexagon">
            <a:avLst/>
          </a:prstGeom>
          <a:solidFill>
            <a:schemeClr val="accent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70432" y="124358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What is new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783080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One falsify-or-certify loop with three verdicts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Float32-sound differential proofs with an exactness bit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Certificate-guided witnesses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Proof-backed repair, localisation and reuse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54680" y="1097280"/>
            <a:ext cx="2468880" cy="2606040"/>
          </a:xfrm>
          <a:prstGeom prst="roundRect">
            <a:avLst>
              <a:gd name="adj" fmla="val 2963"/>
            </a:avLst>
          </a:prstGeom>
          <a:solidFill>
            <a:schemeClr val="bg2"/>
          </a:solidFill>
          <a:ln/>
        </p:spPr>
      </p:sp>
      <p:sp>
        <p:nvSpPr>
          <p:cNvPr id="11" name="Shape 9"/>
          <p:cNvSpPr/>
          <p:nvPr/>
        </p:nvSpPr>
        <p:spPr>
          <a:xfrm>
            <a:off x="3337560" y="1243584"/>
            <a:ext cx="411480" cy="356342"/>
          </a:xfrm>
          <a:prstGeom prst="hexagon">
            <a:avLst/>
          </a:prstGeom>
          <a:solidFill>
            <a:schemeClr val="accent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867912" y="124358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Honest limits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337560" y="1783080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Small MLPs (Iris, Wine, Breast Cancer, Digits)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No head-to-head yet with ReluDiff or α,β-CROWN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Bug classes modelled on a study, not reproduced issues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852160" y="1097280"/>
            <a:ext cx="2468880" cy="2606040"/>
          </a:xfrm>
          <a:prstGeom prst="roundRect">
            <a:avLst>
              <a:gd name="adj" fmla="val 2963"/>
            </a:avLst>
          </a:prstGeom>
          <a:solidFill>
            <a:schemeClr val="bg2"/>
          </a:solidFill>
          <a:ln/>
        </p:spPr>
      </p:sp>
      <p:sp>
        <p:nvSpPr>
          <p:cNvPr id="15" name="Shape 13"/>
          <p:cNvSpPr/>
          <p:nvPr/>
        </p:nvSpPr>
        <p:spPr>
          <a:xfrm>
            <a:off x="6035040" y="1243584"/>
            <a:ext cx="411480" cy="356342"/>
          </a:xfrm>
          <a:prstGeom prst="hexagon">
            <a:avLst/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565392" y="124358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Next steps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0" y="1783080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Scale to CNNs and larger models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Baseline comparison on the same benchmark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Reproduce real TVM / ONNX bug reports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Target a workshop, then a main-track venue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886200"/>
            <a:ext cx="7863840" cy="731520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0080" y="400507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Live demo: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./samples/run_demo.sh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 — compile, catch a broken rewrite, audit, compare, repair.  Thank you!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95528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per Hexagon">
  <a:themeElements>
    <a:clrScheme name="Temper Hexagon">
      <a:dk1>
        <a:srgbClr val="333F4F"/>
      </a:dk1>
      <a:lt1>
        <a:srgbClr val="FFFFFF"/>
      </a:lt1>
      <a:dk2>
        <a:srgbClr val="3A6EB5"/>
      </a:dk2>
      <a:lt2>
        <a:srgbClr val="EEF4FA"/>
      </a:lt2>
      <a:accent1>
        <a:srgbClr val="6F9BD8"/>
      </a:accent1>
      <a:accent2>
        <a:srgbClr val="86C9D9"/>
      </a:accent2>
      <a:accent3>
        <a:srgbClr val="C3E3EE"/>
      </a:accent3>
      <a:accent4>
        <a:srgbClr val="2E9AB0"/>
      </a:accent4>
      <a:accent5>
        <a:srgbClr val="D3D6DB"/>
      </a:accent5>
      <a:accent6>
        <a:srgbClr val="D9614C"/>
      </a:accent6>
      <a:hlink>
        <a:srgbClr val="3A6EB5"/>
      </a:hlink>
      <a:folHlink>
        <a:srgbClr val="2E9AB0"/>
      </a:folHlink>
    </a:clrScheme>
    <a:fontScheme name="Temper Hexagon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Temper: falsify-or-certify trust for neural networks</dc:title>
  <dc:subject>PptxGenJS Presentation</dc:subject>
  <dc:creator>Vaishnavi</dc:creator>
  <cp:lastModifiedBy>Vaishnavi</cp:lastModifiedBy>
  <cp:revision>1</cp:revision>
  <dcterms:created xsi:type="dcterms:W3CDTF">2026-10-22T04:34:07Z</dcterms:created>
  <dcterms:modified xsi:type="dcterms:W3CDTF">2026-10-22T04:34:07Z</dcterms:modified>
</cp:coreProperties>
</file>